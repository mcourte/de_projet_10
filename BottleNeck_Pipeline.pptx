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C2018-500B-49F3-8A1F-4C631E0467C3}" v="1" dt="2026-05-28T08:59:56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ali COURTE  2702" userId="961317ee-03d6-4c84-93c6-c2df63a2da79" providerId="ADAL" clId="{FC6A9BC7-45D6-46BA-9B59-23110F03BC98}"/>
    <pc:docChg chg="undo custSel modSld">
      <pc:chgData name="Magali COURTE  2702" userId="961317ee-03d6-4c84-93c6-c2df63a2da79" providerId="ADAL" clId="{FC6A9BC7-45D6-46BA-9B59-23110F03BC98}" dt="2026-05-28T13:32:27.876" v="14" actId="1076"/>
      <pc:docMkLst>
        <pc:docMk/>
      </pc:docMkLst>
      <pc:sldChg chg="addSp modSp mod">
        <pc:chgData name="Magali COURTE  2702" userId="961317ee-03d6-4c84-93c6-c2df63a2da79" providerId="ADAL" clId="{FC6A9BC7-45D6-46BA-9B59-23110F03BC98}" dt="2026-05-28T09:00:07.522" v="3" actId="255"/>
        <pc:sldMkLst>
          <pc:docMk/>
          <pc:sldMk cId="0" sldId="256"/>
        </pc:sldMkLst>
        <pc:spChg chg="add mod">
          <ac:chgData name="Magali COURTE  2702" userId="961317ee-03d6-4c84-93c6-c2df63a2da79" providerId="ADAL" clId="{FC6A9BC7-45D6-46BA-9B59-23110F03BC98}" dt="2026-05-28T09:00:07.522" v="3" actId="255"/>
          <ac:spMkLst>
            <pc:docMk/>
            <pc:sldMk cId="0" sldId="256"/>
            <ac:spMk id="11" creationId="{5B50DCF1-D9A1-26EA-79AB-182A4FFD65C3}"/>
          </ac:spMkLst>
        </pc:spChg>
      </pc:sldChg>
      <pc:sldChg chg="delSp modSp mod">
        <pc:chgData name="Magali COURTE  2702" userId="961317ee-03d6-4c84-93c6-c2df63a2da79" providerId="ADAL" clId="{FC6A9BC7-45D6-46BA-9B59-23110F03BC98}" dt="2026-05-28T13:32:27.876" v="14" actId="1076"/>
        <pc:sldMkLst>
          <pc:docMk/>
          <pc:sldMk cId="0" sldId="267"/>
        </pc:sldMkLst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7" creationId="{00000000-0000-0000-0000-000000000000}"/>
          </ac:spMkLst>
        </pc:spChg>
        <pc:spChg chg="del">
          <ac:chgData name="Magali COURTE  2702" userId="961317ee-03d6-4c84-93c6-c2df63a2da79" providerId="ADAL" clId="{FC6A9BC7-45D6-46BA-9B59-23110F03BC98}" dt="2026-05-28T13:31:46.065" v="4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Magali COURTE  2702" userId="961317ee-03d6-4c84-93c6-c2df63a2da79" providerId="ADAL" clId="{FC6A9BC7-45D6-46BA-9B59-23110F03BC98}" dt="2026-05-28T13:31:47.590" v="5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Magali COURTE  2702" userId="961317ee-03d6-4c84-93c6-c2df63a2da79" providerId="ADAL" clId="{FC6A9BC7-45D6-46BA-9B59-23110F03BC98}" dt="2026-05-28T13:31:51.906" v="8" actId="478"/>
          <ac:spMkLst>
            <pc:docMk/>
            <pc:sldMk cId="0" sldId="267"/>
            <ac:spMk id="10" creationId="{00000000-0000-0000-0000-000000000000}"/>
          </ac:spMkLst>
        </pc:spChg>
        <pc:spChg chg="del mod">
          <ac:chgData name="Magali COURTE  2702" userId="961317ee-03d6-4c84-93c6-c2df63a2da79" providerId="ADAL" clId="{FC6A9BC7-45D6-46BA-9B59-23110F03BC98}" dt="2026-05-28T13:31:50.047" v="7" actId="478"/>
          <ac:spMkLst>
            <pc:docMk/>
            <pc:sldMk cId="0" sldId="267"/>
            <ac:spMk id="11" creationId="{00000000-0000-0000-0000-000000000000}"/>
          </ac:spMkLst>
        </pc:spChg>
        <pc:spChg chg="del mod">
          <ac:chgData name="Magali COURTE  2702" userId="961317ee-03d6-4c84-93c6-c2df63a2da79" providerId="ADAL" clId="{FC6A9BC7-45D6-46BA-9B59-23110F03BC98}" dt="2026-05-28T13:32:18.159" v="13" actId="478"/>
          <ac:spMkLst>
            <pc:docMk/>
            <pc:sldMk cId="0" sldId="267"/>
            <ac:spMk id="12" creationId="{00000000-0000-0000-0000-000000000000}"/>
          </ac:spMkLst>
        </pc:spChg>
        <pc:spChg chg="del mod">
          <ac:chgData name="Magali COURTE  2702" userId="961317ee-03d6-4c84-93c6-c2df63a2da79" providerId="ADAL" clId="{FC6A9BC7-45D6-46BA-9B59-23110F03BC98}" dt="2026-05-28T13:32:18.159" v="13" actId="478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Magali COURTE  2702" userId="961317ee-03d6-4c84-93c6-c2df63a2da79" providerId="ADAL" clId="{FC6A9BC7-45D6-46BA-9B59-23110F03BC98}" dt="2026-05-28T13:32:18.159" v="13" actId="478"/>
          <ac:spMkLst>
            <pc:docMk/>
            <pc:sldMk cId="0" sldId="267"/>
            <ac:spMk id="14" creationId="{00000000-0000-0000-0000-000000000000}"/>
          </ac:spMkLst>
        </pc:spChg>
        <pc:spChg chg="del mod">
          <ac:chgData name="Magali COURTE  2702" userId="961317ee-03d6-4c84-93c6-c2df63a2da79" providerId="ADAL" clId="{FC6A9BC7-45D6-46BA-9B59-23110F03BC98}" dt="2026-05-28T13:32:18.159" v="13" actId="478"/>
          <ac:spMkLst>
            <pc:docMk/>
            <pc:sldMk cId="0" sldId="267"/>
            <ac:spMk id="15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Magali COURTE  2702" userId="961317ee-03d6-4c84-93c6-c2df63a2da79" providerId="ADAL" clId="{FC6A9BC7-45D6-46BA-9B59-23110F03BC98}" dt="2026-05-28T13:32:27.876" v="14" actId="1076"/>
          <ac:spMkLst>
            <pc:docMk/>
            <pc:sldMk cId="0" sldId="267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0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courte/DE_Projet_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B2D8B">
              <a:alpha val="16000"/>
            </a:srgbClr>
          </a:solidFill>
          <a:ln w="12700">
            <a:solidFill>
              <a:srgbClr val="7B2D8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858000" y="2560320"/>
            <a:ext cx="2926080" cy="2926080"/>
          </a:xfrm>
          <a:prstGeom prst="ellipse">
            <a:avLst/>
          </a:prstGeom>
          <a:solidFill>
            <a:srgbClr val="C84B31">
              <a:alpha val="15000"/>
            </a:srgbClr>
          </a:solidFill>
          <a:ln w="12700">
            <a:solidFill>
              <a:srgbClr val="C84B31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B2D8B"/>
                </a:solidFill>
              </a:rPr>
              <a:t>PROJET DATA ENGINEERING  —  BOTTLENECK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du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0B8"/>
                </a:solidFill>
              </a:rPr>
              <a:t>Ingestion · Nettoyage · Fusion · Analyse · Extraction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B8"/>
                </a:solidFill>
              </a:rPr>
              <a:t>Magali </a:t>
            </a:r>
            <a:r>
              <a:rPr lang="en-US" sz="1000" dirty="0" err="1">
                <a:solidFill>
                  <a:srgbClr val="A0A0B8"/>
                </a:solidFill>
              </a:rPr>
              <a:t>Courté</a:t>
            </a:r>
            <a:endParaRPr lang="en-US" sz="1000" dirty="0"/>
          </a:p>
          <a:p>
            <a:r>
              <a:rPr sz="600" dirty="0">
                <a:solidFill>
                  <a:srgbClr val="A0A0B8"/>
                </a:solidFill>
              </a:rPr>
              <a:t>https://github.com/mcourte/DE_Projet_10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B50DCF1-D9A1-26EA-79AB-182A4FFD65C3}"/>
              </a:ext>
            </a:extLst>
          </p:cNvPr>
          <p:cNvSpPr txBox="1"/>
          <p:nvPr/>
        </p:nvSpPr>
        <p:spPr>
          <a:xfrm>
            <a:off x="421386" y="3755618"/>
            <a:ext cx="52654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A0A0B8"/>
                </a:solidFill>
                <a:hlinkClick r:id="rId3"/>
              </a:rPr>
              <a:t>Lien GitHub</a:t>
            </a:r>
            <a:endParaRPr lang="fr-FR" sz="1600" dirty="0">
              <a:solidFill>
                <a:srgbClr val="A0A0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75488" y="1124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1064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Contexte de la 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Le besoin métier BottleNeck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066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Démarche &amp; choix techniques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Stack, architecture, justifications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" y="3044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026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Logigramme du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410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Flux de données de bout en bout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Topologie Kestra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YAML + visualisation du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56048" y="1124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1064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Prise en main de Kestra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490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Concepts clés expliqués simplement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956048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2066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Tests &amp; qualité des données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41 tests, chiffres de référence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56048" y="3044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3026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Tolérance aux pannes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410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Retry, fallback, idempotence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931920"/>
            <a:ext cx="41605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 &amp; résultats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B8"/>
                </a:solidFill>
              </a:rPr>
              <a:t>Chiffres validés, livrables produits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|  Contexte de la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8B"/>
                </a:solidFill>
              </a:rPr>
              <a:t>L'entreprise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BottleNeck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E-commerce de vins prestigieux avec deux systèmes d'information distincts :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ERP</a:t>
            </a:r>
            <a:r>
              <a:rPr lang="en-US" sz="1150" dirty="0">
                <a:solidFill>
                  <a:srgbClr val="1A1A2E"/>
                </a:solidFill>
              </a:rPr>
              <a:t>  — gestion interne (Fichier_erp.xlsx, 825 lignes)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CMS / Web</a:t>
            </a:r>
            <a:r>
              <a:rPr lang="en-US" sz="1150" dirty="0">
                <a:solidFill>
                  <a:srgbClr val="1A1A2E"/>
                </a:solidFill>
              </a:rPr>
              <a:t>  — plateforme en ligne (Fichier_web.xlsx, 1 513 lignes)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Liaison</a:t>
            </a:r>
            <a:r>
              <a:rPr lang="en-US" sz="1150" dirty="0">
                <a:solidFill>
                  <a:srgbClr val="1A1A2E"/>
                </a:solidFill>
              </a:rPr>
              <a:t>  — fichier de réconciliation (825 lignes)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27432" cy="33832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B31"/>
                </a:solidFill>
              </a:rPr>
              <a:t>Le problème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50876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1.  Données cloisonnées entre ERP et CMS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2.  Réconciliation manuelle par Stéphane (risque d'erreur)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3.  Aucun calcul automatique du chiffre d'affaires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4.  Identification des vins premium non reproductible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5.  Zéro rapport mensuel automatique pour les équipes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4416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Mission : Industrialiser le pipeline de Stéphane — livraison automatique des rapports le 15 de chaque mois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|  Démarche technique &amp; justification des choix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0876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Extraction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1901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Chargement des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fichiers Excel sources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719072"/>
            <a:ext cx="228600" cy="64008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0" y="1051560"/>
            <a:ext cx="150876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01168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Nettoyage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65960" y="1901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Dédup SKU/ERP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Valeurs manquantes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20440" y="1719072"/>
            <a:ext cx="228600" cy="64008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749040" y="1051560"/>
            <a:ext cx="1508760" cy="14173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74904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Jointure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03320" y="1901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ERP ⟕ Liaison ⟕ Web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via product_id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57800" y="1719072"/>
            <a:ext cx="228600" cy="64008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486400" y="1051560"/>
            <a:ext cx="1508760" cy="14173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40680" y="1901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CA par produit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Classif. IQR premium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95160" y="1719072"/>
            <a:ext cx="228600" cy="64008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223760" y="1051560"/>
            <a:ext cx="1508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22376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1572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Extraction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1901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Rapport Excel 4 onglets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+ 2 CSV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2651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Justification des choix techniques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090672"/>
            <a:ext cx="27889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4048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Kestra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Orchestration déclarative YAML — simple à lire, interface graphique, trigger CRON natif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0" y="3090672"/>
            <a:ext cx="27889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310128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🦆  DuckDB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SQL analytique embarqué sur fichiers locaux — aucune infra, ~2s d'exécution complète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3090672"/>
            <a:ext cx="27889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236208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🐍  Python + pandas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Classification IQR des vins premium — méthode statistique robuste et reproductible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959352"/>
            <a:ext cx="27889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84048" y="4014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openpyxl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Génération rapport Excel multi-onglets (CA_par_produit, CA_total, Vins_premium, Vins_ordinaires)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0" y="3959352"/>
            <a:ext cx="27889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310128" y="4014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🐳  Docker Compose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1012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Portabilité totale — Kestra + PostgreSQL déployables en une commande sur n'importe quel serveur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3959352"/>
            <a:ext cx="27889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236208" y="4014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pytest (41 tests)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3620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Tests unitaires + intégration — valident les chiffres de référence à chaque exécution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|  Logigramme du pipeline d'automatisation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📂  Sources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128016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Fichier_erp.xlsx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825 lignes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91640" y="1170432"/>
            <a:ext cx="128016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9164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fichier_liaison.xlsx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825 lignes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1170432"/>
            <a:ext cx="128016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5468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Fichier_web.xlsx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1 513 lignes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63040" y="1737360"/>
            <a:ext cx="73152" cy="320040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41732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32918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28600" y="2231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NETTOYAGE  (Python pandas)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2496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0"/>
                </a:solidFill>
              </a:rPr>
              <a:t>Dédup ERP : 825 lignes · Dédup Web : 1 513 → 714 lignes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0" y="2194560"/>
            <a:ext cx="2377440" cy="594360"/>
          </a:xfrm>
          <a:prstGeom prst="rect">
            <a:avLst/>
          </a:prstGeom>
          <a:solidFill>
            <a:srgbClr val="2E8B57">
              <a:alpha val="90000"/>
            </a:srgbClr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749040" y="22128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✅ TEST  Nettoyage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Unicité PK · Tables non vides · 0 doublons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20440" y="2459736"/>
            <a:ext cx="228600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463040" y="2788920"/>
            <a:ext cx="73152" cy="274320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3291840" cy="5943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28600" y="3099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JOINTURE  (ERP ⟕ LIAISON ⟕ WEB)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" y="33558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0"/>
                </a:solidFill>
              </a:rPr>
              <a:t>714 produits consolidés via product_id ↔ id_web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49040" y="3063240"/>
            <a:ext cx="2377440" cy="594360"/>
          </a:xfrm>
          <a:prstGeom prst="rect">
            <a:avLst/>
          </a:prstGeom>
          <a:solidFill>
            <a:srgbClr val="2E8B57">
              <a:alpha val="90000"/>
            </a:srgbClr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749040" y="30815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✅ TEST  Jointure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 &gt; 0 · sku unique · INNER JOIN sain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3328416"/>
            <a:ext cx="228600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463040" y="3657600"/>
            <a:ext cx="73152" cy="274320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28600" y="3931920"/>
            <a:ext cx="3291840" cy="5943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2860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ANALYSE  (Python Z-score &gt; 1,96)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" y="4224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E8F0"/>
                </a:solidFill>
              </a:rPr>
              <a:t>CA/produit · CA total 70 568,60 € · 30 vins millésimés (z &gt; 1,96)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49040" y="3931920"/>
            <a:ext cx="2377440" cy="594360"/>
          </a:xfrm>
          <a:prstGeom prst="rect">
            <a:avLst/>
          </a:prstGeom>
          <a:solidFill>
            <a:srgbClr val="2E8B57">
              <a:alpha val="90000"/>
            </a:srgbClr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749040" y="39502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✅ TEST  Analyse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CA &gt; 0 · Premium + Ordinary = Total · Prix moy. P &gt; 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20440" y="4197096"/>
            <a:ext cx="228600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400800" y="9601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8"/>
                </a:solidFill>
              </a:rPr>
              <a:t>📤  Extractions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1170432"/>
            <a:ext cx="25146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00800" y="122529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rapport_BottleNeck_YYYY-MM.xlsx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 onglets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2057400"/>
            <a:ext cx="25146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400800" y="211226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Vins millésimés (.csv)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30 vins (z &gt; 1,96)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2944368"/>
            <a:ext cx="2514600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400800" y="299923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Vins ordinaires (.csv)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684 vins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3822192"/>
            <a:ext cx="2514600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00800" y="387705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⏰ CRON : 0 9 15 * *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 15/mois à 9h00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Workflow Kestra — Topologie &amp; YAML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A0B8"/>
                </a:solidFill>
              </a:rPr>
              <a:t>00_main_pipeline.yml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bottleneck_main
</a:t>
            </a:r>
            <a:endParaRPr lang="en-US" sz="600" dirty="0"/>
          </a:p>
          <a:p>
            <a:pPr marL="0" indent="0">
              <a:buNone/>
            </a:pPr>
            <a:r>
              <a:rPr lang="en-US" sz="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company.data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600" dirty="0"/>
          </a:p>
          <a:p>
            <a:pPr marL="0" indent="0">
              <a:buNone/>
            </a:pPr>
            <a:r>
              <a:rPr lang="en-US" sz="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extract_files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test_volumetrie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clean_erp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clean_web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test_nettoyage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join_data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test_jointure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classify_wines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calculate_ca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test_ca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generate_excel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</a:t>
            </a:r>
            <a:r>
              <a:rPr lang="en-US" sz="6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test_excel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600" dirty="0"/>
          </a:p>
          <a:p>
            <a:pPr marL="0" indent="0">
              <a:buNone/>
            </a:pPr>
            <a:r>
              <a:rPr lang="en-US" sz="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</a:t>
            </a:r>
            <a:r>
              <a:rPr lang="en-US" sz="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type</a:t>
            </a:r>
            <a:r>
              <a:rPr lang="en-US" sz="6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schedule
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cron</a:t>
            </a:r>
            <a:r>
              <a:rPr lang="en-US" sz="6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"0 9 15 * *"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A0B8"/>
                </a:solidFill>
              </a:rPr>
              <a:t>Topologie visuelle du flow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3520" y="1234440"/>
            <a:ext cx="157276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03520" y="128016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extract_files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95160" y="1234440"/>
            <a:ext cx="1572768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995160" y="128016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test_volumétrie ✅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157276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03520" y="182880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clean_erp + clean_web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995160" y="1783080"/>
            <a:ext cx="1572768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995160" y="182880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test_nettoyage ✅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303520" y="2331720"/>
            <a:ext cx="1572768" cy="38404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03520" y="237744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join_data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95160" y="2331720"/>
            <a:ext cx="1572768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995160" y="237744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test_jointure ✅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0" y="2880360"/>
            <a:ext cx="1572768" cy="38404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03520" y="292608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classify_wines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303520" y="3429000"/>
            <a:ext cx="1572768" cy="38404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03520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calculate_ca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95160" y="3429000"/>
            <a:ext cx="1572768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995160" y="347472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test_ca ✅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03520" y="3977640"/>
            <a:ext cx="157276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303520" y="402336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generate_excel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95160" y="3977640"/>
            <a:ext cx="1572768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95160" y="402336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test_excel 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367528" y="1618488"/>
            <a:ext cx="64008" cy="118872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367528" y="2167128"/>
            <a:ext cx="64008" cy="118872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367528" y="2715768"/>
            <a:ext cx="64008" cy="118872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5367528" y="3264408"/>
            <a:ext cx="64008" cy="118872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367528" y="3813048"/>
            <a:ext cx="64008" cy="118872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876288" y="1399032"/>
            <a:ext cx="118872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876288" y="1947672"/>
            <a:ext cx="118872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876288" y="2496312"/>
            <a:ext cx="118872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876288" y="3593592"/>
            <a:ext cx="118872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876288" y="4142232"/>
            <a:ext cx="118872" cy="54864"/>
          </a:xfrm>
          <a:prstGeom prst="rect">
            <a:avLst/>
          </a:prstGeom>
          <a:solidFill>
            <a:srgbClr val="A0A0B8"/>
          </a:solidFill>
          <a:ln w="12700">
            <a:solidFill>
              <a:srgbClr val="A0A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|  Prise en main de Kestra — Concepts clés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280720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91440" cy="1389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📋  Un Flow = une recette complète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66"/>
                </a:solidFill>
              </a:rPr>
              <a:t>C'est le fichier YAML qui décrit toutes les étapes dans l'ordre. On peut le lire comme du texte, le versionner avec Git, et le partager.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719072"/>
            <a:ext cx="280720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18688" y="1719072"/>
            <a:ext cx="91440" cy="1389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01568" y="1810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⚙️  Une Task = une étape précise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1568" y="219456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66"/>
                </a:solidFill>
              </a:rPr>
              <a:t>Chaque tâche fait une seule chose : charger un fichier, exécuter du SQL, lancer un script Python. Si elle échoue, Kestra le sait et peut réessayer.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719072"/>
            <a:ext cx="280720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63056" y="1719072"/>
            <a:ext cx="91440" cy="1389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45936" y="1810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📁  Un Namespace = un dossier projet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45936" y="219456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66"/>
                </a:solidFill>
              </a:rPr>
              <a:t>Organisation hiérarchique des flows par équipe / projet. Ex : company.data  Toute l'équipe utilise la même instance.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280720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91440" cy="1389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⏰  Un Trigger = un réveil automatique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66"/>
                </a:solidFill>
              </a:rPr>
              <a:t>cron: "0 9 15 * *" démarre le pipeline le 15 de chaque mois à 9h00. Zéro intervention humaine.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3273552"/>
            <a:ext cx="280720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18688" y="3273552"/>
            <a:ext cx="91440" cy="1389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01568" y="33649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🖥️  L'interface graphique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01568" y="374904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66"/>
                </a:solidFill>
              </a:rPr>
              <a:t>Dashboard en temps réel : statut de chaque exécution, logs détaillés, topologie visuelle du flow — accessible à tous, sans coder.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3273552"/>
            <a:ext cx="280720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63056" y="3273552"/>
            <a:ext cx="91440" cy="13898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345936" y="33649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📦  Les Blueprints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45936" y="3749040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66"/>
                </a:solidFill>
              </a:rPr>
              <a:t>Catalogue d'exemples prêts à l'emploi. En un clic, on importe un template et on l'adapte — idéal pour démarrer rapidement.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 |  Tests &amp; qualité des données — 41 tests pytest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0B8"/>
                </a:solidFill>
              </a:rPr>
              <a:t>41 tests pytest : 25 unitaires + 5 intégration + 11 cibles + tests SQL inline dans Kestra.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07208" cy="1627632"/>
          </a:xfrm>
          <a:prstGeom prst="rect">
            <a:avLst/>
          </a:prstGeom>
          <a:solidFill>
            <a:srgbClr val="1621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91440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2563EB"/>
                </a:solidFill>
              </a:rPr>
              <a:t>pytest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825 lignes ERP brutes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1 513 lignes WEB brutes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3865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825 lignes liaison brutes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3 fichiers bien chargés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18688" y="1417320"/>
            <a:ext cx="2807208" cy="1627632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18688" y="1417320"/>
            <a:ext cx="91440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01568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Nettoyage WEB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0368" y="1508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7C3AED"/>
                </a:solidFill>
              </a:rPr>
              <a:t>SQL / DuckDB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01568" y="18013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714 lignes après dédup SKU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01568" y="20939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0 valeur manquante sur sku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01568" y="23865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0 doublon restant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01568" y="26791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Types colonnes corrects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63056" y="1417320"/>
            <a:ext cx="2807208" cy="162763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163056" y="1417320"/>
            <a:ext cx="91440" cy="16276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345936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Jointure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74736" y="1508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7B2D8B"/>
                </a:solidFill>
              </a:rPr>
              <a:t>SQL / DuckDB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45936" y="18013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714 produits consolidés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45936" y="20939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0 ligne orpheline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45936" y="23865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Cohérence product_id ↔ id_web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45936" y="26791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Aucun NA sur clés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200400"/>
            <a:ext cx="2807208" cy="1627632"/>
          </a:xfrm>
          <a:prstGeom prst="rect">
            <a:avLst/>
          </a:prstGeom>
          <a:solidFill>
            <a:srgbClr val="16213E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91440" cy="162763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 CA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2918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C84B31"/>
                </a:solidFill>
              </a:rPr>
              <a:t>SQL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7200" y="35844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CA total = 70 568,60 €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38770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0 CA négatif ou nul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1696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CA/produit × qté = CA total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4622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Plage dates cohérente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18688" y="3200400"/>
            <a:ext cx="2807208" cy="1627632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18688" y="3200400"/>
            <a:ext cx="91440" cy="16276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401568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 Z-score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32918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2E8B57"/>
                </a:solidFill>
              </a:rPr>
              <a:t>Python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01568" y="35844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30 vins millésimés (z &gt; 1,96)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01568" y="38770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684 vins ordinaires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01568" y="41696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Somme = 714 (complétude)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01568" y="44622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Seuil = 87,00 € (moy + 1,96×σ)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3056" y="3200400"/>
            <a:ext cx="2807208" cy="1627632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163056" y="3200400"/>
            <a:ext cx="91440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345936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Rapport Excel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74736" y="32918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0D9488"/>
                </a:solidFill>
              </a:rPr>
              <a:t>openpyxl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45936" y="35844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4 onglets présents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45936" y="38770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CA_par_produit : 714 lignes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45936" y="41696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CA_total : 70 568,60 €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45936" y="44622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F0"/>
                </a:solidFill>
              </a:rPr>
              <a:t>✓  Fichier non corrompu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  |  Tolérance aux pannes &amp; planification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8B"/>
                </a:solidFill>
              </a:rPr>
              <a:t>⏰  Planification automatique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70332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cron: "0 9 15 * *"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timezone: Europe/Paris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703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✔  Le 15 de chaque mois à 9h00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✔  Aucune intervention manuelle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✔  Livraison automatique aux équipes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✔  Mode replace : idempotent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✔  Relançable manuellement à tout moment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B31"/>
                </a:solidFill>
              </a:rPr>
              <a:t>🛡️  Tolérance aux pannes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536192"/>
            <a:ext cx="3840480" cy="658368"/>
          </a:xfrm>
          <a:prstGeom prst="rect">
            <a:avLst/>
          </a:prstGeom>
          <a:solidFill>
            <a:srgbClr val="FFF4F4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0" y="15910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4B31"/>
                </a:solidFill>
              </a:rPr>
              <a:t>⚠  DuckDB indisponible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66"/>
                </a:solidFill>
              </a:rPr>
              <a:t>→  Retry ×3 (1s → 5s → 15s) puis fallback CSV dans _fallback/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2313432"/>
            <a:ext cx="3840480" cy="658368"/>
          </a:xfrm>
          <a:prstGeom prst="rect">
            <a:avLst/>
          </a:prstGeom>
          <a:solidFill>
            <a:srgbClr val="FFF4F4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0" y="23682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4B31"/>
                </a:solidFill>
              </a:rPr>
              <a:t>⚠  Erreur écriture Excel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2642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66"/>
                </a:solidFill>
              </a:rPr>
              <a:t>→  Retry Kestra ×3 avec backoff exponentiel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3090672"/>
            <a:ext cx="3840480" cy="658368"/>
          </a:xfrm>
          <a:prstGeom prst="rect">
            <a:avLst/>
          </a:prstGeom>
          <a:solidFill>
            <a:srgbClr val="FFF4F4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0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4B31"/>
                </a:solidFill>
              </a:rPr>
              <a:t>⚠  Test métier échoué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66"/>
                </a:solidFill>
              </a:rPr>
              <a:t>→  Pipeline stoppé, run précédent conservé intact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3867912"/>
            <a:ext cx="3840480" cy="658368"/>
          </a:xfrm>
          <a:prstGeom prst="rect">
            <a:avLst/>
          </a:prstGeom>
          <a:solidFill>
            <a:srgbClr val="FFF4F4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0" y="3922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4B31"/>
                </a:solidFill>
              </a:rPr>
              <a:t>⚠  Fichier source corrompu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0" y="4197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66"/>
                </a:solidFill>
              </a:rPr>
              <a:t>→  Déplacement auto dans data/rejected/ + alerte log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Structure du projet — Organisation des fichiers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23544"/>
            <a:ext cx="5303520" cy="4219956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5074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>
              <a:solidFill>
                <a:srgbClr val="79C0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880" dirty="0">
              <a:solidFill>
                <a:srgbClr val="79C0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kestra/flows/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00_main_pipeline.yml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01_extraction.yml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02_transformation.yml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03_tests.yml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scripts/python/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extract_files.py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clean_data.py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join_data.py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identify_wines.py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calculate_revenue.py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</a:rPr>
              <a:t>│   └── load_to_duckdb.py </a:t>
            </a:r>
            <a:r>
              <a:rPr lang="en-US" sz="88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scripts/sql/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tests/ (4 fichiers SQL)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
│   ├── test_pipeline.py             ← 32 structurels
│   └── test_chiffres_bottleneck.py ← 11 cibles POC
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docker-compose.yml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852160" y="1018032"/>
            <a:ext cx="3017520" cy="1984248"/>
          </a:xfrm>
          <a:prstGeom prst="rect">
            <a:avLst/>
          </a:prstGeom>
          <a:solidFill>
            <a:srgbClr val="1621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8932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🚀  Démarrage rapide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478280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Dépendances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Kestra (Docker)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Ouvrir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52160" y="3017520"/>
            <a:ext cx="3017520" cy="1961388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8932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</a:rPr>
              <a:t>🧪  Lancer les 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3439668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Tous les tests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-v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Chiffres cibles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-m cibles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Intégrité DuckDB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-m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🎬  Démonstration live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0B8"/>
                </a:solidFill>
              </a:rPr>
              <a:t>Étapes de la démo — à suivre dans l'ordre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420624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384048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630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Lancer le pipeline local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1773936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95528" y="1792224"/>
            <a:ext cx="3547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scripts.python.run_pipeline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208483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Montrer les logs : 6 étapes, tests verts, durée ~2s, livrables générés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389888"/>
            <a:ext cx="420624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1389888"/>
            <a:ext cx="384048" cy="107899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14630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Lancer les 41 tests pytest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30368" y="1773936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76088" y="1792224"/>
            <a:ext cx="3547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tests/ -v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30368" y="208483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Montrer les 41 tests PASSED — dont les 11 tests cibles qui valident les chiffres de Stéphane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420624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384048" cy="10789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" y="267004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Ouvrir l'interface Kestra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" y="2980944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95528" y="2999232"/>
            <a:ext cx="3547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9808" y="329184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Montrer le flow main_pipeline, la topologie visuelle, déclencher une exécution manuelle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596896"/>
            <a:ext cx="420624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54880" y="2596896"/>
            <a:ext cx="384048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548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30368" y="267004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Visualiser l'exécution Kestra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30368" y="2980944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276088" y="2999232"/>
            <a:ext cx="3547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 Executions → cliquer sur le run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30368" y="329184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Montrer les tâches vertes, les logs par tâche, la durée, le statut SUCCESS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803904"/>
            <a:ext cx="420624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274320" y="3803904"/>
            <a:ext cx="38404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743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9808" y="38770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Ouvrir le rapport Excel généré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" y="4187952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95528" y="4206240"/>
            <a:ext cx="3547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data/processed/rapport_BottleNeck_YYYY-MM.xlsx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9808" y="449884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Montrer les 4 onglets : CA_par_produit (714 lignes), CA_total (70 568,60 €), Vins_premium (30), Vins_ordinaires (684)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803904"/>
            <a:ext cx="420624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754880" y="3803904"/>
            <a:ext cx="384048" cy="107899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548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30368" y="38770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Tester la résilience (optionnel)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30368" y="4187952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276088" y="4206240"/>
            <a:ext cx="3547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4B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-m integration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30368" y="449884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Montrer les tests d'intégration qui interrogent DuckDB après le pipeline et valident la persistance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08  |  Résultats validés &amp; livrables produits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825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lignes ERP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brutes ingérées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05156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172968" y="1051560"/>
            <a:ext cx="2651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72968" y="12070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1 513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72968" y="17099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lignes Web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brutes ingérées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105156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25896" y="1051560"/>
            <a:ext cx="2651760" cy="914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25896" y="12070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2D8B"/>
                </a:solidFill>
              </a:rPr>
              <a:t>714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25896" y="17099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produits consolidés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après nettoyage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286000"/>
            <a:ext cx="2651760" cy="9144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0040" y="2441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4B31"/>
                </a:solidFill>
              </a:rPr>
              <a:t>70 568,60 €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0040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CA total calculé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automatiquement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172968" y="2286000"/>
            <a:ext cx="265176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172968" y="2441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</a:rPr>
              <a:t>30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172968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vins millésimés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(z-score &gt; 1,96)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025896" y="228600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025896" y="24414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</a:rPr>
              <a:t>41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25896" y="2944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tests pytest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77"/>
                </a:solidFill>
              </a:rPr>
              <a:t>validés (41/41 ✅)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📦  Livrables produits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959352"/>
            <a:ext cx="2807208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4048" y="40233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 rapport_BottleNeck_YYYY-MM.xlsx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432511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4 onglets : CA_par_produit · CA_total · Vins_premium · Vins_ordinaires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18688" y="3959352"/>
            <a:ext cx="2807208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328416" y="40233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🗄️  bottlerock.db (DuckDB)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28416" y="432511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4 tables : erp_clean · web_clean · liaison_clean · produits_consolides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63056" y="3959352"/>
            <a:ext cx="2807208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272784" y="40233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🧪  41 tests pytest validés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72784" y="432511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B8"/>
                </a:solidFill>
              </a:rPr>
              <a:t>25 unitaires + 5 intégration + 11 cibles — exécutables en continu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Difficultés rencontrées &amp; apprentissages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0980" y="202692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0980" y="2026920"/>
            <a:ext cx="109728" cy="171907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2148" y="211836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⚠️  Logique métier du nettoyage 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2148" y="2484120"/>
            <a:ext cx="3895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66"/>
                </a:solidFill>
              </a:rPr>
              <a:t>1ère version : post_type='product' AND post_status='publish' en une étape → 716 lignes (pas 714). Stéphane décompose en 2 étapes : dropna(sku) → 1 428 lignes, puis dédup SKU avec priorité 'product' sur 'attachment' → 714 lignes. Comprendre cette décomposition était essentiel pour les tests intermédiaires.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1540" y="202692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01540" y="2026920"/>
            <a:ext cx="10972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02708" y="211836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🔤  Encodage des fichiers Excel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2708" y="2484120"/>
            <a:ext cx="3895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66"/>
                </a:solidFill>
              </a:rPr>
              <a:t>Caractères accentués (Château, Pomerol…) mal affichés en console Windows (cp1252) mais bytes UTF-8 corrects. Solution pour les CSV de sortie : encoding='utf-8-sig' (UTF-8 avec BOM) pour qu'Excel les ouvre directement sans passer par l'assistant d'import.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Pistes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d'amélioration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807208" cy="1755648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691640" y="1106424"/>
            <a:ext cx="1280160" cy="2468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709928" y="1115568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Court terme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4048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 Notifications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8"/>
                </a:solidFill>
              </a:rPr>
              <a:t>Tâche Kestra Slack / email en fin de flow pour avertir Stéphane et Laurent dès que le rapport est prêt ou qu'une erreur est détectée.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024128"/>
            <a:ext cx="2807208" cy="1755648"/>
          </a:xfrm>
          <a:prstGeom prst="rect">
            <a:avLst/>
          </a:prstGeom>
          <a:solidFill>
            <a:srgbClr val="16213E"/>
          </a:solidFill>
          <a:ln w="12700">
            <a:solidFill>
              <a:srgbClr val="2E8B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36008" y="1106424"/>
            <a:ext cx="1280160" cy="2468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54296" y="1115568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Court terme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28416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🗃️  Versioning des sources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463040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8"/>
                </a:solidFill>
              </a:rPr>
              <a:t>Snapshot des fichiers Excel dans data/raw/_archive/YYYY-MM/ à chaque run. Permet l'audit et de rejouer n'importe quel mois sans perte de données.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024128"/>
            <a:ext cx="2807208" cy="1755648"/>
          </a:xfrm>
          <a:prstGeom prst="rect">
            <a:avLst/>
          </a:prstGeom>
          <a:solidFill>
            <a:srgbClr val="16213E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580376" y="1106424"/>
            <a:ext cx="1280160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598664" y="1115568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Moyen terme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72784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 Surveillance du drift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1463040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8"/>
                </a:solidFill>
              </a:rPr>
              <a:t>Si moy/σ des prix évoluent, le seuil 87 € dérive. Ajouter un test d'alerte si le seuil calculé s'écarte de ±15 % de la valeur initiale.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2807208" cy="1755648"/>
          </a:xfrm>
          <a:prstGeom prst="rect">
            <a:avLst/>
          </a:prstGeom>
          <a:solidFill>
            <a:srgbClr val="16213E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691640" y="3044952"/>
            <a:ext cx="1280160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709928" y="3054096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Moyen terme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Tableau de bord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401568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8"/>
                </a:solidFill>
              </a:rPr>
              <a:t>Connecter Metabase ou Apache Superset à DuckDB pour une vue exploratoire interactive à Stéphane et Laurent — sans nécessiter Python.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962656"/>
            <a:ext cx="2807208" cy="1755648"/>
          </a:xfrm>
          <a:prstGeom prst="rect">
            <a:avLst/>
          </a:prstGeom>
          <a:solidFill>
            <a:srgbClr val="16213E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36008" y="3044952"/>
            <a:ext cx="1280160" cy="24688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54296" y="3054096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Long terme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28416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CI/CD GitHub 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28416" y="3401568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8"/>
                </a:solidFill>
              </a:rPr>
              <a:t>Exécuter automatiquement les 41 tests pytest à chaque push sur le repo pour éviter les régressions lors de modifications des scripts Python / SQL.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3056" y="2962656"/>
            <a:ext cx="2807208" cy="1755648"/>
          </a:xfrm>
          <a:prstGeom prst="rect">
            <a:avLst/>
          </a:prstGeom>
          <a:solidFill>
            <a:srgbClr val="16213E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580376" y="3044952"/>
            <a:ext cx="1280160" cy="24688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598664" y="3054096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2E"/>
                </a:solidFill>
              </a:rPr>
              <a:t>Long terme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72784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Connexion directe ERP/CMS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3401568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B8"/>
                </a:solidFill>
              </a:rPr>
              <a:t>Remplacer les fichiers Excel par des connexions directes aux APIs ERP et WooCommerce via plugin Kestra HTTP. Supprimer l'export manuel de fichiers.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7B2D8B">
              <a:alpha val="12000"/>
            </a:srgbClr>
          </a:solidFill>
          <a:ln w="12700">
            <a:solidFill>
              <a:srgbClr val="7B2D8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C84B31">
              <a:alpha val="12000"/>
            </a:srgbClr>
          </a:solidFill>
          <a:ln w="12700">
            <a:solidFill>
              <a:srgbClr val="C84B3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8"/>
                </a:solidFill>
              </a:rPr>
              <a:t>Ce que nous avons livré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Un pipeline robuste,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automatisé, testé et documenté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</a:rPr>
              <a:t>✅  Pipeline complet : extraction → nettoyage → jointure → analyse → rapport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0662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</a:rPr>
              <a:t>🧪  41 tests pytest garantissant la qualité à chaque étape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</a:rPr>
              <a:t>⏰  Exécution automatique le 15/mois à 9h, sans intervention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</a:rPr>
              <a:t>🛡️  Résilience intégrée : retry, fallback CSV, idempotence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0"/>
                </a:solidFill>
              </a:rPr>
              <a:t>📊  Rapport Excel 4 onglets + 2 CSV livré en ~2 secondes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4462272"/>
            <a:ext cx="548640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Merci pour votre attention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2258</Words>
  <Application>Microsoft Office PowerPoint</Application>
  <PresentationFormat>Affichage à l'écran (16:9)</PresentationFormat>
  <Paragraphs>347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Automatisation Pipeline Data — BottleNeck</dc:title>
  <dc:subject>PptxGenJS Presentation</dc:subject>
  <dc:creator>PptxGenJS</dc:creator>
  <cp:lastModifiedBy>Magali COURTE  2702</cp:lastModifiedBy>
  <cp:revision>2</cp:revision>
  <dcterms:created xsi:type="dcterms:W3CDTF">2026-05-07T08:20:44Z</dcterms:created>
  <dcterms:modified xsi:type="dcterms:W3CDTF">2026-05-28T13:32:27Z</dcterms:modified>
</cp:coreProperties>
</file>