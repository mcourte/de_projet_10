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70" r:id="rId12"/>
    <p:sldId id="266" r:id="rId13"/>
    <p:sldId id="267" r:id="rId14"/>
    <p:sldId id="268" r:id="rId15"/>
    <p:sldId id="269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7BC2018-500B-49F3-8A1F-4C631E0467C3}" v="1" dt="2026-05-28T08:59:56.57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microsoft.com/office/2016/11/relationships/changesInfo" Target="changesInfos/changesInfo1.xml"/><Relationship Id="rId23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gali COURTE  2702" userId="961317ee-03d6-4c84-93c6-c2df63a2da79" providerId="ADAL" clId="{FC6A9BC7-45D6-46BA-9B59-23110F03BC98}"/>
    <pc:docChg chg="undo custSel modSld">
      <pc:chgData name="Magali COURTE  2702" userId="961317ee-03d6-4c84-93c6-c2df63a2da79" providerId="ADAL" clId="{FC6A9BC7-45D6-46BA-9B59-23110F03BC98}" dt="2026-05-28T13:32:27.876" v="14" actId="1076"/>
      <pc:docMkLst>
        <pc:docMk/>
      </pc:docMkLst>
      <pc:sldChg chg="addSp modSp mod">
        <pc:chgData name="Magali COURTE  2702" userId="961317ee-03d6-4c84-93c6-c2df63a2da79" providerId="ADAL" clId="{FC6A9BC7-45D6-46BA-9B59-23110F03BC98}" dt="2026-05-28T09:00:07.522" v="3" actId="255"/>
        <pc:sldMkLst>
          <pc:docMk/>
          <pc:sldMk cId="0" sldId="256"/>
        </pc:sldMkLst>
        <pc:spChg chg="add mod">
          <ac:chgData name="Magali COURTE  2702" userId="961317ee-03d6-4c84-93c6-c2df63a2da79" providerId="ADAL" clId="{FC6A9BC7-45D6-46BA-9B59-23110F03BC98}" dt="2026-05-28T09:00:07.522" v="3" actId="255"/>
          <ac:spMkLst>
            <pc:docMk/>
            <pc:sldMk cId="0" sldId="256"/>
            <ac:spMk id="11" creationId="{5B50DCF1-D9A1-26EA-79AB-182A4FFD65C3}"/>
          </ac:spMkLst>
        </pc:spChg>
      </pc:sldChg>
      <pc:sldChg chg="delSp modSp mod">
        <pc:chgData name="Magali COURTE  2702" userId="961317ee-03d6-4c84-93c6-c2df63a2da79" providerId="ADAL" clId="{FC6A9BC7-45D6-46BA-9B59-23110F03BC98}" dt="2026-05-28T13:32:27.876" v="14" actId="1076"/>
        <pc:sldMkLst>
          <pc:docMk/>
          <pc:sldMk cId="0" sldId="267"/>
        </pc:sldMkLst>
        <pc:spChg chg="mod">
          <ac:chgData name="Magali COURTE  2702" userId="961317ee-03d6-4c84-93c6-c2df63a2da79" providerId="ADAL" clId="{FC6A9BC7-45D6-46BA-9B59-23110F03BC98}" dt="2026-05-28T13:32:27.876" v="14" actId="1076"/>
          <ac:spMkLst>
            <pc:docMk/>
            <pc:sldMk cId="0" sldId="267"/>
            <ac:spMk id="4" creationId="{00000000-0000-0000-0000-000000000000}"/>
          </ac:spMkLst>
        </pc:spChg>
        <pc:spChg chg="mod">
          <ac:chgData name="Magali COURTE  2702" userId="961317ee-03d6-4c84-93c6-c2df63a2da79" providerId="ADAL" clId="{FC6A9BC7-45D6-46BA-9B59-23110F03BC98}" dt="2026-05-28T13:32:27.876" v="14" actId="1076"/>
          <ac:spMkLst>
            <pc:docMk/>
            <pc:sldMk cId="0" sldId="267"/>
            <ac:spMk id="5" creationId="{00000000-0000-0000-0000-000000000000}"/>
          </ac:spMkLst>
        </pc:spChg>
        <pc:spChg chg="mod">
          <ac:chgData name="Magali COURTE  2702" userId="961317ee-03d6-4c84-93c6-c2df63a2da79" providerId="ADAL" clId="{FC6A9BC7-45D6-46BA-9B59-23110F03BC98}" dt="2026-05-28T13:32:27.876" v="14" actId="1076"/>
          <ac:spMkLst>
            <pc:docMk/>
            <pc:sldMk cId="0" sldId="267"/>
            <ac:spMk id="6" creationId="{00000000-0000-0000-0000-000000000000}"/>
          </ac:spMkLst>
        </pc:spChg>
        <pc:spChg chg="mod">
          <ac:chgData name="Magali COURTE  2702" userId="961317ee-03d6-4c84-93c6-c2df63a2da79" providerId="ADAL" clId="{FC6A9BC7-45D6-46BA-9B59-23110F03BC98}" dt="2026-05-28T13:32:27.876" v="14" actId="1076"/>
          <ac:spMkLst>
            <pc:docMk/>
            <pc:sldMk cId="0" sldId="267"/>
            <ac:spMk id="7" creationId="{00000000-0000-0000-0000-000000000000}"/>
          </ac:spMkLst>
        </pc:spChg>
        <pc:spChg chg="del">
          <ac:chgData name="Magali COURTE  2702" userId="961317ee-03d6-4c84-93c6-c2df63a2da79" providerId="ADAL" clId="{FC6A9BC7-45D6-46BA-9B59-23110F03BC98}" dt="2026-05-28T13:31:46.065" v="4" actId="478"/>
          <ac:spMkLst>
            <pc:docMk/>
            <pc:sldMk cId="0" sldId="267"/>
            <ac:spMk id="8" creationId="{00000000-0000-0000-0000-000000000000}"/>
          </ac:spMkLst>
        </pc:spChg>
        <pc:spChg chg="del">
          <ac:chgData name="Magali COURTE  2702" userId="961317ee-03d6-4c84-93c6-c2df63a2da79" providerId="ADAL" clId="{FC6A9BC7-45D6-46BA-9B59-23110F03BC98}" dt="2026-05-28T13:31:47.590" v="5" actId="478"/>
          <ac:spMkLst>
            <pc:docMk/>
            <pc:sldMk cId="0" sldId="267"/>
            <ac:spMk id="9" creationId="{00000000-0000-0000-0000-000000000000}"/>
          </ac:spMkLst>
        </pc:spChg>
        <pc:spChg chg="del">
          <ac:chgData name="Magali COURTE  2702" userId="961317ee-03d6-4c84-93c6-c2df63a2da79" providerId="ADAL" clId="{FC6A9BC7-45D6-46BA-9B59-23110F03BC98}" dt="2026-05-28T13:31:51.906" v="8" actId="478"/>
          <ac:spMkLst>
            <pc:docMk/>
            <pc:sldMk cId="0" sldId="267"/>
            <ac:spMk id="10" creationId="{00000000-0000-0000-0000-000000000000}"/>
          </ac:spMkLst>
        </pc:spChg>
        <pc:spChg chg="del mod">
          <ac:chgData name="Magali COURTE  2702" userId="961317ee-03d6-4c84-93c6-c2df63a2da79" providerId="ADAL" clId="{FC6A9BC7-45D6-46BA-9B59-23110F03BC98}" dt="2026-05-28T13:31:50.047" v="7" actId="478"/>
          <ac:spMkLst>
            <pc:docMk/>
            <pc:sldMk cId="0" sldId="267"/>
            <ac:spMk id="11" creationId="{00000000-0000-0000-0000-000000000000}"/>
          </ac:spMkLst>
        </pc:spChg>
        <pc:spChg chg="del mod">
          <ac:chgData name="Magali COURTE  2702" userId="961317ee-03d6-4c84-93c6-c2df63a2da79" providerId="ADAL" clId="{FC6A9BC7-45D6-46BA-9B59-23110F03BC98}" dt="2026-05-28T13:32:18.159" v="13" actId="478"/>
          <ac:spMkLst>
            <pc:docMk/>
            <pc:sldMk cId="0" sldId="267"/>
            <ac:spMk id="12" creationId="{00000000-0000-0000-0000-000000000000}"/>
          </ac:spMkLst>
        </pc:spChg>
        <pc:spChg chg="del mod">
          <ac:chgData name="Magali COURTE  2702" userId="961317ee-03d6-4c84-93c6-c2df63a2da79" providerId="ADAL" clId="{FC6A9BC7-45D6-46BA-9B59-23110F03BC98}" dt="2026-05-28T13:32:18.159" v="13" actId="478"/>
          <ac:spMkLst>
            <pc:docMk/>
            <pc:sldMk cId="0" sldId="267"/>
            <ac:spMk id="13" creationId="{00000000-0000-0000-0000-000000000000}"/>
          </ac:spMkLst>
        </pc:spChg>
        <pc:spChg chg="del mod">
          <ac:chgData name="Magali COURTE  2702" userId="961317ee-03d6-4c84-93c6-c2df63a2da79" providerId="ADAL" clId="{FC6A9BC7-45D6-46BA-9B59-23110F03BC98}" dt="2026-05-28T13:32:18.159" v="13" actId="478"/>
          <ac:spMkLst>
            <pc:docMk/>
            <pc:sldMk cId="0" sldId="267"/>
            <ac:spMk id="14" creationId="{00000000-0000-0000-0000-000000000000}"/>
          </ac:spMkLst>
        </pc:spChg>
        <pc:spChg chg="del mod">
          <ac:chgData name="Magali COURTE  2702" userId="961317ee-03d6-4c84-93c6-c2df63a2da79" providerId="ADAL" clId="{FC6A9BC7-45D6-46BA-9B59-23110F03BC98}" dt="2026-05-28T13:32:18.159" v="13" actId="478"/>
          <ac:spMkLst>
            <pc:docMk/>
            <pc:sldMk cId="0" sldId="267"/>
            <ac:spMk id="15" creationId="{00000000-0000-0000-0000-000000000000}"/>
          </ac:spMkLst>
        </pc:spChg>
        <pc:spChg chg="mod">
          <ac:chgData name="Magali COURTE  2702" userId="961317ee-03d6-4c84-93c6-c2df63a2da79" providerId="ADAL" clId="{FC6A9BC7-45D6-46BA-9B59-23110F03BC98}" dt="2026-05-28T13:32:27.876" v="14" actId="1076"/>
          <ac:spMkLst>
            <pc:docMk/>
            <pc:sldMk cId="0" sldId="267"/>
            <ac:spMk id="16" creationId="{00000000-0000-0000-0000-000000000000}"/>
          </ac:spMkLst>
        </pc:spChg>
        <pc:spChg chg="mod">
          <ac:chgData name="Magali COURTE  2702" userId="961317ee-03d6-4c84-93c6-c2df63a2da79" providerId="ADAL" clId="{FC6A9BC7-45D6-46BA-9B59-23110F03BC98}" dt="2026-05-28T13:32:27.876" v="14" actId="1076"/>
          <ac:spMkLst>
            <pc:docMk/>
            <pc:sldMk cId="0" sldId="267"/>
            <ac:spMk id="17" creationId="{00000000-0000-0000-0000-000000000000}"/>
          </ac:spMkLst>
        </pc:spChg>
        <pc:spChg chg="mod">
          <ac:chgData name="Magali COURTE  2702" userId="961317ee-03d6-4c84-93c6-c2df63a2da79" providerId="ADAL" clId="{FC6A9BC7-45D6-46BA-9B59-23110F03BC98}" dt="2026-05-28T13:32:27.876" v="14" actId="1076"/>
          <ac:spMkLst>
            <pc:docMk/>
            <pc:sldMk cId="0" sldId="267"/>
            <ac:spMk id="18" creationId="{00000000-0000-0000-0000-000000000000}"/>
          </ac:spMkLst>
        </pc:spChg>
        <pc:spChg chg="mod">
          <ac:chgData name="Magali COURTE  2702" userId="961317ee-03d6-4c84-93c6-c2df63a2da79" providerId="ADAL" clId="{FC6A9BC7-45D6-46BA-9B59-23110F03BC98}" dt="2026-05-28T13:32:27.876" v="14" actId="1076"/>
          <ac:spMkLst>
            <pc:docMk/>
            <pc:sldMk cId="0" sldId="267"/>
            <ac:spMk id="19" creationId="{00000000-0000-0000-0000-000000000000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05044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github.com/mcourte/DE_Projet_10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7B2D8B"/>
          </a:solidFill>
          <a:ln w="12700">
            <a:solidFill>
              <a:srgbClr val="7B2D8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5943600" y="-914400"/>
            <a:ext cx="4572000" cy="4572000"/>
          </a:xfrm>
          <a:prstGeom prst="ellipse">
            <a:avLst/>
          </a:prstGeom>
          <a:solidFill>
            <a:srgbClr val="7B2D8B">
              <a:alpha val="16000"/>
            </a:srgbClr>
          </a:solidFill>
          <a:ln w="12700">
            <a:solidFill>
              <a:srgbClr val="7B2D8B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6858000" y="2560320"/>
            <a:ext cx="2926080" cy="2926080"/>
          </a:xfrm>
          <a:prstGeom prst="ellipse">
            <a:avLst/>
          </a:prstGeom>
          <a:solidFill>
            <a:srgbClr val="C84B31">
              <a:alpha val="15000"/>
            </a:srgbClr>
          </a:solidFill>
          <a:ln w="12700">
            <a:solidFill>
              <a:srgbClr val="C84B31">
                <a:alpha val="28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7B2D8B"/>
                </a:solidFill>
              </a:rPr>
              <a:t>PROJET DATA ENGINEERING  —  BOTTLENECK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1325880"/>
            <a:ext cx="77724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Automatisation du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Données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457200" y="31089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A0A0B8"/>
                </a:solidFill>
              </a:rPr>
              <a:t>Ingestion · Nettoyage · Fusion · Analyse · Extraction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365760" y="4681728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0A0B8"/>
                </a:solidFill>
              </a:rPr>
              <a:t>Magali </a:t>
            </a:r>
            <a:r>
              <a:rPr lang="en-US" sz="1000" dirty="0" err="1">
                <a:solidFill>
                  <a:srgbClr val="A0A0B8"/>
                </a:solidFill>
              </a:rPr>
              <a:t>Courté</a:t>
            </a:r>
            <a:endParaRPr lang="en-US" sz="1000" dirty="0"/>
          </a:p>
          <a:p>
            <a:r>
              <a:rPr sz="600" dirty="0">
                <a:solidFill>
                  <a:srgbClr val="A0A0B8"/>
                </a:solidFill>
              </a:rPr>
              <a:t>https://github.com/mcourte/DE_Projet_10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5B50DCF1-D9A1-26EA-79AB-182A4FFD65C3}"/>
              </a:ext>
            </a:extLst>
          </p:cNvPr>
          <p:cNvSpPr txBox="1"/>
          <p:nvPr/>
        </p:nvSpPr>
        <p:spPr>
          <a:xfrm>
            <a:off x="421386" y="3755618"/>
            <a:ext cx="52654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rgbClr val="A0A0B8"/>
                </a:solidFill>
                <a:hlinkClick r:id="rId3"/>
              </a:rPr>
              <a:t>Lien GitHub</a:t>
            </a:r>
            <a:endParaRPr lang="fr-FR" sz="1600" dirty="0">
              <a:solidFill>
                <a:srgbClr val="A0A0B8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Sommaire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86968"/>
            <a:ext cx="8229600" cy="27432"/>
          </a:xfrm>
          <a:prstGeom prst="rect">
            <a:avLst/>
          </a:prstGeom>
          <a:solidFill>
            <a:srgbClr val="7B2D8B"/>
          </a:solidFill>
          <a:ln w="12700">
            <a:solidFill>
              <a:srgbClr val="7B2D8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4160520" cy="804672"/>
          </a:xfrm>
          <a:prstGeom prst="rect">
            <a:avLst/>
          </a:prstGeom>
          <a:solidFill>
            <a:srgbClr val="16213E"/>
          </a:solidFill>
          <a:ln w="12700">
            <a:solidFill>
              <a:srgbClr val="7B2D8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475488" y="112471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7B2D8B"/>
                </a:solidFill>
              </a:rPr>
              <a:t>01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60120" y="110642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Contexte de la mission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14904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0A0B8"/>
                </a:solidFill>
              </a:rPr>
              <a:t>Le besoin métier BottleNeck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65760" y="2011680"/>
            <a:ext cx="4160520" cy="804672"/>
          </a:xfrm>
          <a:prstGeom prst="rect">
            <a:avLst/>
          </a:prstGeom>
          <a:solidFill>
            <a:srgbClr val="16213E"/>
          </a:solidFill>
          <a:ln w="12700">
            <a:solidFill>
              <a:srgbClr val="7B2D8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475488" y="208483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7B2D8B"/>
                </a:solidFill>
              </a:rPr>
              <a:t>02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206654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Démarche &amp; choix techniques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60120" y="245059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0A0B8"/>
                </a:solidFill>
              </a:rPr>
              <a:t>Stack, architecture, justifications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65760" y="2971800"/>
            <a:ext cx="4160520" cy="804672"/>
          </a:xfrm>
          <a:prstGeom prst="rect">
            <a:avLst/>
          </a:prstGeom>
          <a:solidFill>
            <a:srgbClr val="16213E"/>
          </a:solidFill>
          <a:ln w="12700">
            <a:solidFill>
              <a:srgbClr val="7B2D8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475488" y="30449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7B2D8B"/>
                </a:solidFill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302666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Logigramme du pipeline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60120" y="34107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0A0B8"/>
                </a:solidFill>
              </a:rPr>
              <a:t>Flux de données de bout en bout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65760" y="3931920"/>
            <a:ext cx="4160520" cy="804672"/>
          </a:xfrm>
          <a:prstGeom prst="rect">
            <a:avLst/>
          </a:prstGeom>
          <a:solidFill>
            <a:srgbClr val="16213E"/>
          </a:solidFill>
          <a:ln w="12700">
            <a:solidFill>
              <a:srgbClr val="7B2D8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475488" y="40050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7B2D8B"/>
                </a:solidFill>
              </a:rPr>
              <a:t>04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98678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Topologie Kestra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60120" y="437083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0A0B8"/>
                </a:solidFill>
              </a:rPr>
              <a:t>YAML + visualisation du workflow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846320" y="1051560"/>
            <a:ext cx="4160520" cy="804672"/>
          </a:xfrm>
          <a:prstGeom prst="rect">
            <a:avLst/>
          </a:prstGeom>
          <a:solidFill>
            <a:srgbClr val="16213E"/>
          </a:solidFill>
          <a:ln w="12700">
            <a:solidFill>
              <a:srgbClr val="7B2D8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4956048" y="112471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7B2D8B"/>
                </a:solidFill>
              </a:rPr>
              <a:t>05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440680" y="110642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Prise en main de Kestra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440680" y="14904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0A0B8"/>
                </a:solidFill>
              </a:rPr>
              <a:t>Concepts clés expliqués simplement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846320" y="2011680"/>
            <a:ext cx="4160520" cy="804672"/>
          </a:xfrm>
          <a:prstGeom prst="rect">
            <a:avLst/>
          </a:prstGeom>
          <a:solidFill>
            <a:srgbClr val="16213E"/>
          </a:solidFill>
          <a:ln w="12700">
            <a:solidFill>
              <a:srgbClr val="7B2D8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4956048" y="208483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7B2D8B"/>
                </a:solidFill>
              </a:rPr>
              <a:t>06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440680" y="206654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Tests &amp; qualité des données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440680" y="245059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0A0B8"/>
                </a:solidFill>
              </a:rPr>
              <a:t>39 tests, chiffres de référence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846320" y="2971800"/>
            <a:ext cx="4160520" cy="804672"/>
          </a:xfrm>
          <a:prstGeom prst="rect">
            <a:avLst/>
          </a:prstGeom>
          <a:solidFill>
            <a:srgbClr val="16213E"/>
          </a:solidFill>
          <a:ln w="12700">
            <a:solidFill>
              <a:srgbClr val="7B2D8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4956048" y="30449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7B2D8B"/>
                </a:solidFill>
              </a:rPr>
              <a:t>07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5440680" y="302666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Tolérance aux pannes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440680" y="34107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0A0B8"/>
                </a:solidFill>
              </a:rPr>
              <a:t>Retry, fallback, idempotence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846320" y="3931920"/>
            <a:ext cx="4160520" cy="804672"/>
          </a:xfrm>
          <a:prstGeom prst="rect">
            <a:avLst/>
          </a:prstGeom>
          <a:solidFill>
            <a:srgbClr val="16213E"/>
          </a:solidFill>
          <a:ln w="12700">
            <a:solidFill>
              <a:srgbClr val="7B2D8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3" name="Text 31"/>
          <p:cNvSpPr/>
          <p:nvPr/>
        </p:nvSpPr>
        <p:spPr>
          <a:xfrm>
            <a:off x="4956048" y="40050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7B2D8B"/>
                </a:solidFill>
              </a:rPr>
              <a:t>08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440680" y="398678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Démo &amp; résultats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440680" y="437083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0A0B8"/>
                </a:solidFill>
              </a:rPr>
              <a:t>Chiffres validés, livrables produits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01  |  Contexte de la mission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109728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B2D8B"/>
                </a:solidFill>
              </a:rPr>
              <a:t>L'entreprise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65760" y="1508760"/>
            <a:ext cx="39319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1A2E"/>
                </a:solidFill>
              </a:rPr>
              <a:t>BottleNeck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</a:rPr>
              <a:t>E-commerce de vins prestigieux avec deux systèmes d'information distincts :</a:t>
            </a:r>
            <a:endParaRPr lang="en-US" sz="1150" dirty="0"/>
          </a:p>
          <a:p>
            <a:pPr marL="0" indent="0">
              <a:buNone/>
            </a:pPr>
            <a:r>
              <a:rPr lang="en-US" sz="400" dirty="0">
                <a:solidFill>
                  <a:srgbClr val="1A1A2E"/>
                </a:solidFill>
              </a:rPr>
              <a:t>
</a:t>
            </a:r>
            <a:endParaRPr lang="en-US" sz="1150" dirty="0"/>
          </a:p>
          <a:p>
            <a:pPr marL="0" indent="0">
              <a:buNone/>
            </a:pPr>
            <a:r>
              <a:rPr lang="en-US" sz="1150" b="1" dirty="0">
                <a:solidFill>
                  <a:srgbClr val="1A1A2E"/>
                </a:solidFill>
              </a:rPr>
              <a:t>ERP</a:t>
            </a:r>
            <a:r>
              <a:rPr lang="en-US" sz="1150" dirty="0">
                <a:solidFill>
                  <a:srgbClr val="1A1A2E"/>
                </a:solidFill>
              </a:rPr>
              <a:t>  — gestion interne (Fichier_erp.xlsx, 825 lignes)</a:t>
            </a:r>
            <a:endParaRPr lang="en-US" sz="1150" dirty="0"/>
          </a:p>
          <a:p>
            <a:pPr marL="0" indent="0">
              <a:buNone/>
            </a:pPr>
            <a:r>
              <a:rPr lang="en-US" sz="1150" b="1" dirty="0">
                <a:solidFill>
                  <a:srgbClr val="1A1A2E"/>
                </a:solidFill>
              </a:rPr>
              <a:t>CMS / Web</a:t>
            </a:r>
            <a:r>
              <a:rPr lang="en-US" sz="1150" dirty="0">
                <a:solidFill>
                  <a:srgbClr val="1A1A2E"/>
                </a:solidFill>
              </a:rPr>
              <a:t>  — plateforme en ligne (Fichier_web.xlsx, 1 513 lignes)</a:t>
            </a:r>
            <a:endParaRPr lang="en-US" sz="1150" dirty="0"/>
          </a:p>
          <a:p>
            <a:pPr marL="0" indent="0">
              <a:buNone/>
            </a:pPr>
            <a:r>
              <a:rPr lang="en-US" sz="1150" b="1" dirty="0">
                <a:solidFill>
                  <a:srgbClr val="1A1A2E"/>
                </a:solidFill>
              </a:rPr>
              <a:t>Liaison</a:t>
            </a:r>
            <a:r>
              <a:rPr lang="en-US" sz="1150" dirty="0">
                <a:solidFill>
                  <a:srgbClr val="1A1A2E"/>
                </a:solidFill>
              </a:rPr>
              <a:t>  — fichier de réconciliation (825 lignes)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572000" y="1097280"/>
            <a:ext cx="27432" cy="3383280"/>
          </a:xfrm>
          <a:prstGeom prst="rect">
            <a:avLst/>
          </a:prstGeom>
          <a:solidFill>
            <a:srgbClr val="7B2D8B"/>
          </a:solidFill>
          <a:ln w="12700">
            <a:solidFill>
              <a:srgbClr val="7B2D8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4846320" y="109728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4B31"/>
                </a:solidFill>
              </a:rPr>
              <a:t>Le problème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846320" y="1508760"/>
            <a:ext cx="39776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</a:rPr>
              <a:t>1.  Données cloisonnées entre ERP et CMS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</a:rPr>
              <a:t>2.  Réconciliation manuelle par Stéphane (risque d'erreur)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</a:rPr>
              <a:t>3.  Aucun calcul automatique du chiffre d'affaires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</a:rPr>
              <a:t>4.  Identification des vins premium non reproductible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</a:rPr>
              <a:t>5.  Zéro rapport mensuel automatique pour les équipes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0" y="4343400"/>
            <a:ext cx="9144000" cy="800100"/>
          </a:xfrm>
          <a:prstGeom prst="rect">
            <a:avLst/>
          </a:prstGeom>
          <a:solidFill>
            <a:srgbClr val="7B2D8B"/>
          </a:solidFill>
          <a:ln w="12700">
            <a:solidFill>
              <a:srgbClr val="7B2D8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365760" y="4416552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🎯  Mission : Industrialiser le pipeline de Stéphane — livraison automatique des rapports le 15 de chaque mois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02  |  Démarche technique &amp; justification des choix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1051560"/>
            <a:ext cx="1508760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274320" y="109728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1572768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</a:rPr>
              <a:t>Extraction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228600" y="190195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Chargement des 3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fichiers Excel sources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1783080" y="1719072"/>
            <a:ext cx="228600" cy="64008"/>
          </a:xfrm>
          <a:prstGeom prst="rect">
            <a:avLst/>
          </a:prstGeom>
          <a:solidFill>
            <a:srgbClr val="A0A0B8"/>
          </a:solidFill>
          <a:ln w="12700">
            <a:solidFill>
              <a:srgbClr val="A0A0B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2011680" y="1051560"/>
            <a:ext cx="1508760" cy="14173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2011680" y="109728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011680" y="1572768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</a:rPr>
              <a:t>Nettoyage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965960" y="190195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Dédup SKU/ERP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Valeurs manquantes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520440" y="1719072"/>
            <a:ext cx="228600" cy="64008"/>
          </a:xfrm>
          <a:prstGeom prst="rect">
            <a:avLst/>
          </a:prstGeom>
          <a:solidFill>
            <a:srgbClr val="A0A0B8"/>
          </a:solidFill>
          <a:ln w="12700">
            <a:solidFill>
              <a:srgbClr val="A0A0B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Shape 12"/>
          <p:cNvSpPr/>
          <p:nvPr/>
        </p:nvSpPr>
        <p:spPr>
          <a:xfrm>
            <a:off x="3749040" y="1051560"/>
            <a:ext cx="1508760" cy="1417320"/>
          </a:xfrm>
          <a:prstGeom prst="rect">
            <a:avLst/>
          </a:prstGeom>
          <a:solidFill>
            <a:srgbClr val="7B2D8B"/>
          </a:solidFill>
          <a:ln w="12700">
            <a:solidFill>
              <a:srgbClr val="7B2D8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3749040" y="109728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749040" y="1572768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</a:rPr>
              <a:t>Jointure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703320" y="190195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ERP ⟕ Liaison ⟕ Web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via product_id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5257800" y="1719072"/>
            <a:ext cx="228600" cy="64008"/>
          </a:xfrm>
          <a:prstGeom prst="rect">
            <a:avLst/>
          </a:prstGeom>
          <a:solidFill>
            <a:srgbClr val="A0A0B8"/>
          </a:solidFill>
          <a:ln w="12700">
            <a:solidFill>
              <a:srgbClr val="A0A0B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Shape 17"/>
          <p:cNvSpPr/>
          <p:nvPr/>
        </p:nvSpPr>
        <p:spPr>
          <a:xfrm>
            <a:off x="5486400" y="1051560"/>
            <a:ext cx="1508760" cy="1417320"/>
          </a:xfrm>
          <a:prstGeom prst="rect">
            <a:avLst/>
          </a:prstGeom>
          <a:solidFill>
            <a:srgbClr val="C84B31"/>
          </a:solidFill>
          <a:ln w="12700">
            <a:solidFill>
              <a:srgbClr val="C84B3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5486400" y="109728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5486400" y="1572768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</a:rPr>
              <a:t>Analyse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440680" y="190195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CA par produit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Classif. IQR premium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995160" y="1719072"/>
            <a:ext cx="228600" cy="64008"/>
          </a:xfrm>
          <a:prstGeom prst="rect">
            <a:avLst/>
          </a:prstGeom>
          <a:solidFill>
            <a:srgbClr val="A0A0B8"/>
          </a:solidFill>
          <a:ln w="12700">
            <a:solidFill>
              <a:srgbClr val="A0A0B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Shape 22"/>
          <p:cNvSpPr/>
          <p:nvPr/>
        </p:nvSpPr>
        <p:spPr>
          <a:xfrm>
            <a:off x="7223760" y="1051560"/>
            <a:ext cx="1508760" cy="14173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7223760" y="109728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5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7223760" y="1572768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</a:rPr>
              <a:t>Extraction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178040" y="190195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Rapport Excel 4 onglets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+ 2 CSV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365760" y="265176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</a:rPr>
              <a:t>Justification des choix techniques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274320" y="3090672"/>
            <a:ext cx="2788920" cy="749808"/>
          </a:xfrm>
          <a:prstGeom prst="rect">
            <a:avLst/>
          </a:prstGeom>
          <a:solidFill>
            <a:srgbClr val="16213E"/>
          </a:solidFill>
          <a:ln w="12700">
            <a:solidFill>
              <a:srgbClr val="7B2D8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0" name="Text 28"/>
          <p:cNvSpPr/>
          <p:nvPr/>
        </p:nvSpPr>
        <p:spPr>
          <a:xfrm>
            <a:off x="384048" y="314553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⚙️  Kestra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84048" y="34290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0A0B8"/>
                </a:solidFill>
              </a:rPr>
              <a:t>Orchestration déclarative YAML — simple à lire, interface graphique, trigger CRON natif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200400" y="3090672"/>
            <a:ext cx="2788920" cy="749808"/>
          </a:xfrm>
          <a:prstGeom prst="rect">
            <a:avLst/>
          </a:prstGeom>
          <a:solidFill>
            <a:srgbClr val="16213E"/>
          </a:solidFill>
          <a:ln w="12700">
            <a:solidFill>
              <a:srgbClr val="2563E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3" name="Text 31"/>
          <p:cNvSpPr/>
          <p:nvPr/>
        </p:nvSpPr>
        <p:spPr>
          <a:xfrm>
            <a:off x="3310128" y="314553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🦆  DuckDB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310128" y="34290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0A0B8"/>
                </a:solidFill>
              </a:rPr>
              <a:t>SQL analytique embarqué sur fichiers locaux — aucune infra, ~2s d'exécution complète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6126480" y="3090672"/>
            <a:ext cx="2788920" cy="749808"/>
          </a:xfrm>
          <a:prstGeom prst="rect">
            <a:avLst/>
          </a:prstGeom>
          <a:solidFill>
            <a:srgbClr val="16213E"/>
          </a:solidFill>
          <a:ln w="12700">
            <a:solidFill>
              <a:srgbClr val="C84B3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6" name="Text 34"/>
          <p:cNvSpPr/>
          <p:nvPr/>
        </p:nvSpPr>
        <p:spPr>
          <a:xfrm>
            <a:off x="6236208" y="314553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🐍  Python + pandas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236208" y="34290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0A0B8"/>
                </a:solidFill>
              </a:rPr>
              <a:t>Classification IQR des vins premium — méthode statistique robuste et reproductible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74320" y="3959352"/>
            <a:ext cx="2788920" cy="749808"/>
          </a:xfrm>
          <a:prstGeom prst="rect">
            <a:avLst/>
          </a:prstGeom>
          <a:solidFill>
            <a:srgbClr val="16213E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9" name="Text 37"/>
          <p:cNvSpPr/>
          <p:nvPr/>
        </p:nvSpPr>
        <p:spPr>
          <a:xfrm>
            <a:off x="384048" y="401421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📊  openpyxl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84048" y="42976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0A0B8"/>
                </a:solidFill>
              </a:rPr>
              <a:t>Génération rapport Excel multi-onglets (CA_par_produit, CA_total, Vins_premium, Vins_ordinaires)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200400" y="3959352"/>
            <a:ext cx="2788920" cy="749808"/>
          </a:xfrm>
          <a:prstGeom prst="rect">
            <a:avLst/>
          </a:prstGeom>
          <a:solidFill>
            <a:srgbClr val="16213E"/>
          </a:solidFill>
          <a:ln w="1270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2" name="Text 40"/>
          <p:cNvSpPr/>
          <p:nvPr/>
        </p:nvSpPr>
        <p:spPr>
          <a:xfrm>
            <a:off x="3310128" y="401421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🐳  Docker Compose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3310128" y="42976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0A0B8"/>
                </a:solidFill>
              </a:rPr>
              <a:t>Portabilité totale — Kestra + PostgreSQL déployables en une commande sur n'importe quel serveur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6126480" y="3959352"/>
            <a:ext cx="2788920" cy="749808"/>
          </a:xfrm>
          <a:prstGeom prst="rect">
            <a:avLst/>
          </a:prstGeom>
          <a:solidFill>
            <a:srgbClr val="16213E"/>
          </a:solidFill>
          <a:ln w="12700">
            <a:solidFill>
              <a:srgbClr val="2E8B5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5" name="Text 43"/>
          <p:cNvSpPr/>
          <p:nvPr/>
        </p:nvSpPr>
        <p:spPr>
          <a:xfrm>
            <a:off x="6236208" y="401421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✅  pytest (39 tests)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236208" y="42976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0A0B8"/>
                </a:solidFill>
              </a:rPr>
              <a:t>Tests unitaires + intégration — valident les chiffres de référence à chaque exécution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03  |  Logigramme du pipeline d'automatisation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274320" y="96012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0A0B8"/>
                </a:solidFill>
              </a:rPr>
              <a:t>📂  Sources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28600" y="1170432"/>
            <a:ext cx="1280160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228600" y="118872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Fichier_erp.xlsx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825 lignes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691640" y="1170432"/>
            <a:ext cx="1280160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1691640" y="118872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fichier_liaison.xlsx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825 lignes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154680" y="1170432"/>
            <a:ext cx="1280160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3154680" y="118872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Fichier_web.xlsx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1 513 lignes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463040" y="1737360"/>
            <a:ext cx="73152" cy="320040"/>
          </a:xfrm>
          <a:prstGeom prst="rect">
            <a:avLst/>
          </a:prstGeom>
          <a:solidFill>
            <a:srgbClr val="A0A0B8"/>
          </a:solidFill>
          <a:ln w="12700">
            <a:solidFill>
              <a:srgbClr val="A0A0B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1417320" y="201168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0A0B8"/>
                </a:solidFill>
              </a:rPr>
              <a:t>▼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28600" y="2194560"/>
            <a:ext cx="3291840" cy="5943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228600" y="223113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NETTOYAGE  (Python pandas)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28600" y="2496312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E8E8F0"/>
                </a:solidFill>
              </a:rPr>
              <a:t>Dédup ERP : 825 lignes · Dédup Web : 1 513 → 714 lignes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749040" y="2194560"/>
            <a:ext cx="2377440" cy="594360"/>
          </a:xfrm>
          <a:prstGeom prst="rect">
            <a:avLst/>
          </a:prstGeom>
          <a:solidFill>
            <a:srgbClr val="2E8B57">
              <a:alpha val="90000"/>
            </a:srgbClr>
          </a:solidFill>
          <a:ln w="12700">
            <a:solidFill>
              <a:srgbClr val="2E8B5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3749040" y="2212848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✅ TEST  Nettoyage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Unicité PK · Tables non vides · 0 doublons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520440" y="2459736"/>
            <a:ext cx="228600" cy="54864"/>
          </a:xfrm>
          <a:prstGeom prst="rect">
            <a:avLst/>
          </a:prstGeom>
          <a:solidFill>
            <a:srgbClr val="A0A0B8"/>
          </a:solidFill>
          <a:ln w="12700">
            <a:solidFill>
              <a:srgbClr val="A0A0B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Shape 17"/>
          <p:cNvSpPr/>
          <p:nvPr/>
        </p:nvSpPr>
        <p:spPr>
          <a:xfrm>
            <a:off x="1463040" y="2788920"/>
            <a:ext cx="73152" cy="274320"/>
          </a:xfrm>
          <a:prstGeom prst="rect">
            <a:avLst/>
          </a:prstGeom>
          <a:solidFill>
            <a:srgbClr val="A0A0B8"/>
          </a:solidFill>
          <a:ln w="12700">
            <a:solidFill>
              <a:srgbClr val="A0A0B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Shape 18"/>
          <p:cNvSpPr/>
          <p:nvPr/>
        </p:nvSpPr>
        <p:spPr>
          <a:xfrm>
            <a:off x="228600" y="3063240"/>
            <a:ext cx="3291840" cy="594360"/>
          </a:xfrm>
          <a:prstGeom prst="rect">
            <a:avLst/>
          </a:prstGeom>
          <a:solidFill>
            <a:srgbClr val="7B2D8B"/>
          </a:solidFill>
          <a:ln w="12700">
            <a:solidFill>
              <a:srgbClr val="7B2D8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228600" y="309981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JOINTURE  (ERP ⟕ LIAISON ⟕ WEB)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28600" y="3355848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E8E8F0"/>
                </a:solidFill>
              </a:rPr>
              <a:t>714 produits consolidés via product_id ↔ id_web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749040" y="3063240"/>
            <a:ext cx="2377440" cy="594360"/>
          </a:xfrm>
          <a:prstGeom prst="rect">
            <a:avLst/>
          </a:prstGeom>
          <a:solidFill>
            <a:srgbClr val="2E8B57">
              <a:alpha val="90000"/>
            </a:srgbClr>
          </a:solidFill>
          <a:ln w="12700">
            <a:solidFill>
              <a:srgbClr val="2E8B5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3749040" y="3081528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✅ TEST  Jointure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N &gt; 0 · sku unique · INNER JOIN sain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520440" y="3328416"/>
            <a:ext cx="228600" cy="54864"/>
          </a:xfrm>
          <a:prstGeom prst="rect">
            <a:avLst/>
          </a:prstGeom>
          <a:solidFill>
            <a:srgbClr val="A0A0B8"/>
          </a:solidFill>
          <a:ln w="12700">
            <a:solidFill>
              <a:srgbClr val="A0A0B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hape 24"/>
          <p:cNvSpPr/>
          <p:nvPr/>
        </p:nvSpPr>
        <p:spPr>
          <a:xfrm>
            <a:off x="1463040" y="3657600"/>
            <a:ext cx="73152" cy="274320"/>
          </a:xfrm>
          <a:prstGeom prst="rect">
            <a:avLst/>
          </a:prstGeom>
          <a:solidFill>
            <a:srgbClr val="A0A0B8"/>
          </a:solidFill>
          <a:ln w="12700">
            <a:solidFill>
              <a:srgbClr val="A0A0B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Shape 25"/>
          <p:cNvSpPr/>
          <p:nvPr/>
        </p:nvSpPr>
        <p:spPr>
          <a:xfrm>
            <a:off x="228600" y="3931920"/>
            <a:ext cx="3291840" cy="594360"/>
          </a:xfrm>
          <a:prstGeom prst="rect">
            <a:avLst/>
          </a:prstGeom>
          <a:solidFill>
            <a:srgbClr val="C84B31"/>
          </a:solidFill>
          <a:ln w="12700">
            <a:solidFill>
              <a:srgbClr val="C84B3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228600" y="396849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ANALYSE  (Python Z-score &gt; 1,96)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28600" y="4224528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E8E8F0"/>
                </a:solidFill>
              </a:rPr>
              <a:t>CA/produit · CA total 70 568,60 € · 30 vins millésimés (z &gt; 1,96)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3749040" y="3931920"/>
            <a:ext cx="2377440" cy="594360"/>
          </a:xfrm>
          <a:prstGeom prst="rect">
            <a:avLst/>
          </a:prstGeom>
          <a:solidFill>
            <a:srgbClr val="2E8B57">
              <a:alpha val="90000"/>
            </a:srgbClr>
          </a:solidFill>
          <a:ln w="12700">
            <a:solidFill>
              <a:srgbClr val="2E8B5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Text 29"/>
          <p:cNvSpPr/>
          <p:nvPr/>
        </p:nvSpPr>
        <p:spPr>
          <a:xfrm>
            <a:off x="3749040" y="3950208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✅ TEST  Analyse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CA &gt; 0 · Premium + Ordinary = Total · Prix moy. P &gt; O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3520440" y="4197096"/>
            <a:ext cx="228600" cy="54864"/>
          </a:xfrm>
          <a:prstGeom prst="rect">
            <a:avLst/>
          </a:prstGeom>
          <a:solidFill>
            <a:srgbClr val="A0A0B8"/>
          </a:solidFill>
          <a:ln w="12700">
            <a:solidFill>
              <a:srgbClr val="A0A0B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Text 31"/>
          <p:cNvSpPr/>
          <p:nvPr/>
        </p:nvSpPr>
        <p:spPr>
          <a:xfrm>
            <a:off x="6400800" y="96012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0A0B8"/>
                </a:solidFill>
              </a:rPr>
              <a:t>📤  Extractions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400800" y="1170432"/>
            <a:ext cx="2514600" cy="6217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5" name="Text 33"/>
          <p:cNvSpPr/>
          <p:nvPr/>
        </p:nvSpPr>
        <p:spPr>
          <a:xfrm>
            <a:off x="6400800" y="1225296"/>
            <a:ext cx="2514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rapport_BottleNeck_YYYY-MM.xlsx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4 onglets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400800" y="2057400"/>
            <a:ext cx="2514600" cy="621792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7" name="Text 35"/>
          <p:cNvSpPr/>
          <p:nvPr/>
        </p:nvSpPr>
        <p:spPr>
          <a:xfrm>
            <a:off x="6400800" y="2112264"/>
            <a:ext cx="2514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Vins millésimés (.csv)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30 vins (z &gt; 1,96)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400800" y="2944368"/>
            <a:ext cx="2514600" cy="621792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9" name="Text 37"/>
          <p:cNvSpPr/>
          <p:nvPr/>
        </p:nvSpPr>
        <p:spPr>
          <a:xfrm>
            <a:off x="6400800" y="2999232"/>
            <a:ext cx="2514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Vins ordinaires (.csv)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684 vins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400800" y="3822192"/>
            <a:ext cx="2514600" cy="621792"/>
          </a:xfrm>
          <a:prstGeom prst="rect">
            <a:avLst/>
          </a:prstGeom>
          <a:solidFill>
            <a:srgbClr val="16213E"/>
          </a:solidFill>
          <a:ln w="12700">
            <a:solidFill>
              <a:srgbClr val="E8A02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1" name="Text 39"/>
          <p:cNvSpPr/>
          <p:nvPr/>
        </p:nvSpPr>
        <p:spPr>
          <a:xfrm>
            <a:off x="6400800" y="3877056"/>
            <a:ext cx="2514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⏰ CRON : 0 9 15 * *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Le 15/mois à 9h00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04  |  Workflow Kestra — Topologie &amp; YAML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3931920" cy="3931920"/>
          </a:xfrm>
          <a:prstGeom prst="rect">
            <a:avLst/>
          </a:prstGeom>
          <a:solidFill>
            <a:srgbClr val="0D1117"/>
          </a:solidFill>
          <a:ln w="12700">
            <a:solidFill>
              <a:srgbClr val="7B2D8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320040" y="100584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A0A0B8"/>
                </a:solidFill>
              </a:rPr>
              <a:t>00_main_pipeline.yml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11480" y="1298448"/>
            <a:ext cx="36576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b="1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r>
              <a:rPr lang="en-US" sz="6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bottleneck_main
</a:t>
            </a:r>
            <a:endParaRPr lang="en-US" sz="600" dirty="0"/>
          </a:p>
          <a:p>
            <a:pPr marL="0" indent="0">
              <a:buNone/>
            </a:pPr>
            <a:r>
              <a:rPr lang="en-US" sz="600" b="1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namespace</a:t>
            </a:r>
            <a:r>
              <a:rPr lang="en-US" sz="600" dirty="0">
                <a:solidFill>
                  <a:srgbClr val="A5D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company.data
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600" dirty="0"/>
          </a:p>
          <a:p>
            <a:pPr marL="0" indent="0">
              <a:buNone/>
            </a:pPr>
            <a:r>
              <a:rPr lang="en-US" sz="600" b="1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tasks</a:t>
            </a:r>
            <a:r>
              <a:rPr lang="en-US" sz="6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
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id</a:t>
            </a:r>
            <a:r>
              <a:rPr lang="en-US" sz="600" dirty="0">
                <a:solidFill>
                  <a:srgbClr val="A5D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extract_files
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id</a:t>
            </a:r>
            <a:r>
              <a:rPr lang="en-US" sz="600" dirty="0">
                <a:solidFill>
                  <a:srgbClr val="2E8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test_volumetrie
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id</a:t>
            </a:r>
            <a:r>
              <a:rPr lang="en-US" sz="600" dirty="0">
                <a:solidFill>
                  <a:srgbClr val="A5D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clean_erp
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id</a:t>
            </a:r>
            <a:r>
              <a:rPr lang="en-US" sz="600" dirty="0">
                <a:solidFill>
                  <a:srgbClr val="A5D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clean_web
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id</a:t>
            </a:r>
            <a:r>
              <a:rPr lang="en-US" sz="600" dirty="0">
                <a:solidFill>
                  <a:srgbClr val="2E8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test_nettoyage
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id</a:t>
            </a:r>
            <a:r>
              <a:rPr lang="en-US" sz="600" dirty="0">
                <a:solidFill>
                  <a:srgbClr val="A5D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join_data
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id</a:t>
            </a:r>
            <a:r>
              <a:rPr lang="en-US" sz="600" dirty="0">
                <a:solidFill>
                  <a:srgbClr val="2E8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test_jointure
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id</a:t>
            </a:r>
            <a:r>
              <a:rPr lang="en-US" sz="600" dirty="0">
                <a:solidFill>
                  <a:srgbClr val="A5D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classify_wines
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id</a:t>
            </a:r>
            <a:r>
              <a:rPr lang="en-US" sz="600" dirty="0">
                <a:solidFill>
                  <a:srgbClr val="A5D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calculate_ca
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id</a:t>
            </a:r>
            <a:r>
              <a:rPr lang="en-US" sz="600" dirty="0">
                <a:solidFill>
                  <a:srgbClr val="2E8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test_ca
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id</a:t>
            </a:r>
            <a:r>
              <a:rPr lang="en-US" sz="600" dirty="0">
                <a:solidFill>
                  <a:srgbClr val="E8A0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generate_excel
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id</a:t>
            </a:r>
            <a:r>
              <a:rPr lang="en-US" sz="600" dirty="0">
                <a:solidFill>
                  <a:srgbClr val="2E8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test_excel
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600" dirty="0"/>
          </a:p>
          <a:p>
            <a:pPr marL="0" indent="0">
              <a:buNone/>
            </a:pPr>
            <a:r>
              <a:rPr lang="en-US" sz="600" b="1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triggers</a:t>
            </a:r>
            <a:r>
              <a:rPr lang="en-US" sz="6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
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type</a:t>
            </a:r>
            <a:r>
              <a:rPr lang="en-US" sz="600" dirty="0">
                <a:solidFill>
                  <a:srgbClr val="A5D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schedule
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cron</a:t>
            </a:r>
            <a:r>
              <a:rPr lang="en-US" sz="600" dirty="0">
                <a:solidFill>
                  <a:srgbClr val="E8A0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"0 9 15 * *"</a:t>
            </a:r>
            <a:endParaRPr lang="en-US" sz="600" dirty="0"/>
          </a:p>
        </p:txBody>
      </p:sp>
      <p:sp>
        <p:nvSpPr>
          <p:cNvPr id="7" name="Text 5"/>
          <p:cNvSpPr/>
          <p:nvPr/>
        </p:nvSpPr>
        <p:spPr>
          <a:xfrm>
            <a:off x="4572000" y="96012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A0A0B8"/>
                </a:solidFill>
              </a:rPr>
              <a:t>Topologie visuelle du flow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303520" y="1234440"/>
            <a:ext cx="1572768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5303520" y="1280160"/>
            <a:ext cx="157276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extract_files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6995160" y="1234440"/>
            <a:ext cx="1572768" cy="384048"/>
          </a:xfrm>
          <a:prstGeom prst="rect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6995160" y="1280160"/>
            <a:ext cx="157276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test_volumétrie ✅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5303520" y="1783080"/>
            <a:ext cx="1572768" cy="38404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5303520" y="1828800"/>
            <a:ext cx="157276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clean_erp + clean_web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995160" y="1783080"/>
            <a:ext cx="1572768" cy="384048"/>
          </a:xfrm>
          <a:prstGeom prst="rect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6995160" y="1828800"/>
            <a:ext cx="157276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test_nettoyage ✅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5303520" y="2331720"/>
            <a:ext cx="1572768" cy="384048"/>
          </a:xfrm>
          <a:prstGeom prst="rect">
            <a:avLst/>
          </a:prstGeom>
          <a:solidFill>
            <a:srgbClr val="7B2D8B"/>
          </a:solidFill>
          <a:ln w="12700">
            <a:solidFill>
              <a:srgbClr val="7B2D8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5303520" y="2377440"/>
            <a:ext cx="157276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join_data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995160" y="2331720"/>
            <a:ext cx="1572768" cy="384048"/>
          </a:xfrm>
          <a:prstGeom prst="rect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6995160" y="2377440"/>
            <a:ext cx="157276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test_jointure ✅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5303520" y="2880360"/>
            <a:ext cx="1572768" cy="384048"/>
          </a:xfrm>
          <a:prstGeom prst="rect">
            <a:avLst/>
          </a:prstGeom>
          <a:solidFill>
            <a:srgbClr val="C84B31"/>
          </a:solidFill>
          <a:ln w="12700">
            <a:solidFill>
              <a:srgbClr val="C84B3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5303520" y="2926080"/>
            <a:ext cx="157276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classify_wines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5303520" y="3429000"/>
            <a:ext cx="1572768" cy="384048"/>
          </a:xfrm>
          <a:prstGeom prst="rect">
            <a:avLst/>
          </a:prstGeom>
          <a:solidFill>
            <a:srgbClr val="C84B31"/>
          </a:solidFill>
          <a:ln w="12700">
            <a:solidFill>
              <a:srgbClr val="C84B3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5303520" y="3474720"/>
            <a:ext cx="157276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calculate_ca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6995160" y="3429000"/>
            <a:ext cx="1572768" cy="384048"/>
          </a:xfrm>
          <a:prstGeom prst="rect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6995160" y="3474720"/>
            <a:ext cx="157276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test_ca ✅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5303520" y="3977640"/>
            <a:ext cx="1572768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7" name="Text 25"/>
          <p:cNvSpPr/>
          <p:nvPr/>
        </p:nvSpPr>
        <p:spPr>
          <a:xfrm>
            <a:off x="5303520" y="4023360"/>
            <a:ext cx="157276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generate_excel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6995160" y="3977640"/>
            <a:ext cx="1572768" cy="384048"/>
          </a:xfrm>
          <a:prstGeom prst="rect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6995160" y="4023360"/>
            <a:ext cx="157276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test_excel ✅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5367528" y="1618488"/>
            <a:ext cx="64008" cy="118872"/>
          </a:xfrm>
          <a:prstGeom prst="rect">
            <a:avLst/>
          </a:prstGeom>
          <a:solidFill>
            <a:srgbClr val="A0A0B8"/>
          </a:solidFill>
          <a:ln w="12700">
            <a:solidFill>
              <a:srgbClr val="A0A0B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Shape 29"/>
          <p:cNvSpPr/>
          <p:nvPr/>
        </p:nvSpPr>
        <p:spPr>
          <a:xfrm>
            <a:off x="5367528" y="2167128"/>
            <a:ext cx="64008" cy="118872"/>
          </a:xfrm>
          <a:prstGeom prst="rect">
            <a:avLst/>
          </a:prstGeom>
          <a:solidFill>
            <a:srgbClr val="A0A0B8"/>
          </a:solidFill>
          <a:ln w="12700">
            <a:solidFill>
              <a:srgbClr val="A0A0B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Shape 30"/>
          <p:cNvSpPr/>
          <p:nvPr/>
        </p:nvSpPr>
        <p:spPr>
          <a:xfrm>
            <a:off x="5367528" y="2715768"/>
            <a:ext cx="64008" cy="118872"/>
          </a:xfrm>
          <a:prstGeom prst="rect">
            <a:avLst/>
          </a:prstGeom>
          <a:solidFill>
            <a:srgbClr val="A0A0B8"/>
          </a:solidFill>
          <a:ln w="12700">
            <a:solidFill>
              <a:srgbClr val="A0A0B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Shape 31"/>
          <p:cNvSpPr/>
          <p:nvPr/>
        </p:nvSpPr>
        <p:spPr>
          <a:xfrm>
            <a:off x="5367528" y="3264408"/>
            <a:ext cx="64008" cy="118872"/>
          </a:xfrm>
          <a:prstGeom prst="rect">
            <a:avLst/>
          </a:prstGeom>
          <a:solidFill>
            <a:srgbClr val="A0A0B8"/>
          </a:solidFill>
          <a:ln w="12700">
            <a:solidFill>
              <a:srgbClr val="A0A0B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Shape 32"/>
          <p:cNvSpPr/>
          <p:nvPr/>
        </p:nvSpPr>
        <p:spPr>
          <a:xfrm>
            <a:off x="5367528" y="3813048"/>
            <a:ext cx="64008" cy="118872"/>
          </a:xfrm>
          <a:prstGeom prst="rect">
            <a:avLst/>
          </a:prstGeom>
          <a:solidFill>
            <a:srgbClr val="A0A0B8"/>
          </a:solidFill>
          <a:ln w="12700">
            <a:solidFill>
              <a:srgbClr val="A0A0B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Shape 33"/>
          <p:cNvSpPr/>
          <p:nvPr/>
        </p:nvSpPr>
        <p:spPr>
          <a:xfrm>
            <a:off x="6876288" y="1399032"/>
            <a:ext cx="118872" cy="54864"/>
          </a:xfrm>
          <a:prstGeom prst="rect">
            <a:avLst/>
          </a:prstGeom>
          <a:solidFill>
            <a:srgbClr val="A0A0B8"/>
          </a:solidFill>
          <a:ln w="12700">
            <a:solidFill>
              <a:srgbClr val="A0A0B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Shape 34"/>
          <p:cNvSpPr/>
          <p:nvPr/>
        </p:nvSpPr>
        <p:spPr>
          <a:xfrm>
            <a:off x="6876288" y="1947672"/>
            <a:ext cx="118872" cy="54864"/>
          </a:xfrm>
          <a:prstGeom prst="rect">
            <a:avLst/>
          </a:prstGeom>
          <a:solidFill>
            <a:srgbClr val="A0A0B8"/>
          </a:solidFill>
          <a:ln w="12700">
            <a:solidFill>
              <a:srgbClr val="A0A0B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7" name="Shape 35"/>
          <p:cNvSpPr/>
          <p:nvPr/>
        </p:nvSpPr>
        <p:spPr>
          <a:xfrm>
            <a:off x="6876288" y="2496312"/>
            <a:ext cx="118872" cy="54864"/>
          </a:xfrm>
          <a:prstGeom prst="rect">
            <a:avLst/>
          </a:prstGeom>
          <a:solidFill>
            <a:srgbClr val="A0A0B8"/>
          </a:solidFill>
          <a:ln w="12700">
            <a:solidFill>
              <a:srgbClr val="A0A0B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Shape 36"/>
          <p:cNvSpPr/>
          <p:nvPr/>
        </p:nvSpPr>
        <p:spPr>
          <a:xfrm>
            <a:off x="6876288" y="3593592"/>
            <a:ext cx="118872" cy="54864"/>
          </a:xfrm>
          <a:prstGeom prst="rect">
            <a:avLst/>
          </a:prstGeom>
          <a:solidFill>
            <a:srgbClr val="A0A0B8"/>
          </a:solidFill>
          <a:ln w="12700">
            <a:solidFill>
              <a:srgbClr val="A0A0B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9" name="Shape 37"/>
          <p:cNvSpPr/>
          <p:nvPr/>
        </p:nvSpPr>
        <p:spPr>
          <a:xfrm>
            <a:off x="6876288" y="4142232"/>
            <a:ext cx="118872" cy="54864"/>
          </a:xfrm>
          <a:prstGeom prst="rect">
            <a:avLst/>
          </a:prstGeom>
          <a:solidFill>
            <a:srgbClr val="A0A0B8"/>
          </a:solidFill>
          <a:ln w="12700">
            <a:solidFill>
              <a:srgbClr val="A0A0B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05  |  Prise en main de Kestra — Concepts clés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11480" y="1024128"/>
            <a:ext cx="8321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719072"/>
            <a:ext cx="2807208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7B2D8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274320" y="1719072"/>
            <a:ext cx="91440" cy="1389888"/>
          </a:xfrm>
          <a:prstGeom prst="rect">
            <a:avLst/>
          </a:prstGeom>
          <a:solidFill>
            <a:srgbClr val="7B2D8B"/>
          </a:solidFill>
          <a:ln w="12700">
            <a:solidFill>
              <a:srgbClr val="7B2D8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457200" y="1810512"/>
            <a:ext cx="2542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A2E"/>
                </a:solidFill>
              </a:rPr>
              <a:t>📋  Un Flow = une recette complète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57200" y="2194560"/>
            <a:ext cx="25420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44466"/>
                </a:solidFill>
              </a:rPr>
              <a:t>C'est le fichier YAML qui décrit toutes les étapes dans l'ordre. On peut le lire comme du texte, le versionner avec Git, et le partager.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18688" y="1719072"/>
            <a:ext cx="2807208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7B2D8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9"/>
          <p:cNvSpPr/>
          <p:nvPr/>
        </p:nvSpPr>
        <p:spPr>
          <a:xfrm>
            <a:off x="3218688" y="1719072"/>
            <a:ext cx="91440" cy="1389888"/>
          </a:xfrm>
          <a:prstGeom prst="rect">
            <a:avLst/>
          </a:prstGeom>
          <a:solidFill>
            <a:srgbClr val="7B2D8B"/>
          </a:solidFill>
          <a:ln w="12700">
            <a:solidFill>
              <a:srgbClr val="7B2D8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3401568" y="1810512"/>
            <a:ext cx="2542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A2E"/>
                </a:solidFill>
              </a:rPr>
              <a:t>⚙️  Une Task = une étape précise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401568" y="2194560"/>
            <a:ext cx="25420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44466"/>
                </a:solidFill>
              </a:rPr>
              <a:t>Chaque tâche fait une seule chose : charger un fichier, exécuter du SQL, lancer un script Python. Si elle échoue, Kestra le sait et peut réessayer.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163056" y="1719072"/>
            <a:ext cx="2807208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7B2D8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Shape 13"/>
          <p:cNvSpPr/>
          <p:nvPr/>
        </p:nvSpPr>
        <p:spPr>
          <a:xfrm>
            <a:off x="6163056" y="1719072"/>
            <a:ext cx="91440" cy="1389888"/>
          </a:xfrm>
          <a:prstGeom prst="rect">
            <a:avLst/>
          </a:prstGeom>
          <a:solidFill>
            <a:srgbClr val="7B2D8B"/>
          </a:solidFill>
          <a:ln w="12700">
            <a:solidFill>
              <a:srgbClr val="7B2D8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6345936" y="1810512"/>
            <a:ext cx="2542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A2E"/>
                </a:solidFill>
              </a:rPr>
              <a:t>📁  Un Namespace = un dossier projet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345936" y="2194560"/>
            <a:ext cx="25420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44466"/>
                </a:solidFill>
              </a:rPr>
              <a:t>Organisation hiérarchique des flows par équipe / projet. Ex : company.data  Toute l'équipe utilise la même instance.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74320" y="3273552"/>
            <a:ext cx="2807208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7B2D8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9" name="Shape 17"/>
          <p:cNvSpPr/>
          <p:nvPr/>
        </p:nvSpPr>
        <p:spPr>
          <a:xfrm>
            <a:off x="274320" y="3273552"/>
            <a:ext cx="91440" cy="1389888"/>
          </a:xfrm>
          <a:prstGeom prst="rect">
            <a:avLst/>
          </a:prstGeom>
          <a:solidFill>
            <a:srgbClr val="7B2D8B"/>
          </a:solidFill>
          <a:ln w="12700">
            <a:solidFill>
              <a:srgbClr val="7B2D8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457200" y="3364992"/>
            <a:ext cx="2542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A2E"/>
                </a:solidFill>
              </a:rPr>
              <a:t>⏰  Un Trigger = un réveil automatique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57200" y="3749040"/>
            <a:ext cx="25420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44466"/>
                </a:solidFill>
              </a:rPr>
              <a:t>cron: "0 9 15 * *" démarre le pipeline le 15 de chaque mois à 9h00. Zéro intervention humaine.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218688" y="3273552"/>
            <a:ext cx="2807208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7B2D8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3" name="Shape 21"/>
          <p:cNvSpPr/>
          <p:nvPr/>
        </p:nvSpPr>
        <p:spPr>
          <a:xfrm>
            <a:off x="3218688" y="3273552"/>
            <a:ext cx="91440" cy="1389888"/>
          </a:xfrm>
          <a:prstGeom prst="rect">
            <a:avLst/>
          </a:prstGeom>
          <a:solidFill>
            <a:srgbClr val="7B2D8B"/>
          </a:solidFill>
          <a:ln w="12700">
            <a:solidFill>
              <a:srgbClr val="7B2D8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3401568" y="3364992"/>
            <a:ext cx="2542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A2E"/>
                </a:solidFill>
              </a:rPr>
              <a:t>🖥️  L'interface graphique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401568" y="3749040"/>
            <a:ext cx="25420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44466"/>
                </a:solidFill>
              </a:rPr>
              <a:t>Dashboard en temps réel : statut de chaque exécution, logs détaillés, topologie visuelle du flow — accessible à tous, sans coder.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163056" y="3273552"/>
            <a:ext cx="2807208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7B2D8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7" name="Shape 25"/>
          <p:cNvSpPr/>
          <p:nvPr/>
        </p:nvSpPr>
        <p:spPr>
          <a:xfrm>
            <a:off x="6163056" y="3273552"/>
            <a:ext cx="91440" cy="1389888"/>
          </a:xfrm>
          <a:prstGeom prst="rect">
            <a:avLst/>
          </a:prstGeom>
          <a:solidFill>
            <a:srgbClr val="7B2D8B"/>
          </a:solidFill>
          <a:ln w="12700">
            <a:solidFill>
              <a:srgbClr val="7B2D8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6345936" y="3364992"/>
            <a:ext cx="2542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A2E"/>
                </a:solidFill>
              </a:rPr>
              <a:t>📦  Les Blueprints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345936" y="3749040"/>
            <a:ext cx="25420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44466"/>
                </a:solidFill>
              </a:rPr>
              <a:t>Catalogue d'exemples prêts à l'emploi. En un clic, on importe un template et on l'adapte — idéal pour démarrer rapidement.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06  |  Tests &amp; qualité des données — 39 tests pytest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987552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A0A0B8"/>
                </a:solidFill>
              </a:rPr>
              <a:t>39 tests pytest : 23 unitaires + 5 intégration + 11 cibles + tests SQL inline dans Kestra.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274320" y="1417320"/>
            <a:ext cx="2807208" cy="1627632"/>
          </a:xfrm>
          <a:prstGeom prst="rect">
            <a:avLst/>
          </a:prstGeom>
          <a:solidFill>
            <a:srgbClr val="16213E"/>
          </a:solidFill>
          <a:ln w="12700">
            <a:solidFill>
              <a:srgbClr val="2563E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274320" y="1417320"/>
            <a:ext cx="91440" cy="16276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457200" y="14904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Extraction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286000" y="1508760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2563EB"/>
                </a:solidFill>
              </a:rPr>
              <a:t>pytest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57200" y="1801368"/>
            <a:ext cx="2542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E8F0"/>
                </a:solidFill>
              </a:rPr>
              <a:t>✓  825 lignes ERP brutes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57200" y="2093976"/>
            <a:ext cx="2542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E8F0"/>
                </a:solidFill>
              </a:rPr>
              <a:t>✓  1 513 lignes WEB brutes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57200" y="2386584"/>
            <a:ext cx="2542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E8F0"/>
                </a:solidFill>
              </a:rPr>
              <a:t>✓  825 lignes liaison brutes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57200" y="2679192"/>
            <a:ext cx="2542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E8F0"/>
                </a:solidFill>
              </a:rPr>
              <a:t>✓  3 fichiers bien chargés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218688" y="1417320"/>
            <a:ext cx="2807208" cy="1627632"/>
          </a:xfrm>
          <a:prstGeom prst="rect">
            <a:avLst/>
          </a:prstGeom>
          <a:solidFill>
            <a:srgbClr val="16213E"/>
          </a:solidFill>
          <a:ln w="1270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4" name="Shape 12"/>
          <p:cNvSpPr/>
          <p:nvPr/>
        </p:nvSpPr>
        <p:spPr>
          <a:xfrm>
            <a:off x="3218688" y="1417320"/>
            <a:ext cx="91440" cy="16276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3401568" y="14904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Nettoyage WEB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230368" y="1508760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7C3AED"/>
                </a:solidFill>
              </a:rPr>
              <a:t>SQL / DuckDB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3401568" y="1801368"/>
            <a:ext cx="2542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E8F0"/>
                </a:solidFill>
              </a:rPr>
              <a:t>✓  714 lignes après dédup SKU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3401568" y="2093976"/>
            <a:ext cx="2542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E8F0"/>
                </a:solidFill>
              </a:rPr>
              <a:t>✓  0 valeur manquante sur sku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3401568" y="2386584"/>
            <a:ext cx="2542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E8F0"/>
                </a:solidFill>
              </a:rPr>
              <a:t>✓  0 doublon restant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3401568" y="2679192"/>
            <a:ext cx="2542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E8F0"/>
                </a:solidFill>
              </a:rPr>
              <a:t>✓  Types colonnes corrects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163056" y="1417320"/>
            <a:ext cx="2807208" cy="1627632"/>
          </a:xfrm>
          <a:prstGeom prst="rect">
            <a:avLst/>
          </a:prstGeom>
          <a:solidFill>
            <a:srgbClr val="16213E"/>
          </a:solidFill>
          <a:ln w="12700">
            <a:solidFill>
              <a:srgbClr val="7B2D8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2" name="Shape 20"/>
          <p:cNvSpPr/>
          <p:nvPr/>
        </p:nvSpPr>
        <p:spPr>
          <a:xfrm>
            <a:off x="6163056" y="1417320"/>
            <a:ext cx="91440" cy="1627632"/>
          </a:xfrm>
          <a:prstGeom prst="rect">
            <a:avLst/>
          </a:prstGeom>
          <a:solidFill>
            <a:srgbClr val="7B2D8B"/>
          </a:solidFill>
          <a:ln w="12700">
            <a:solidFill>
              <a:srgbClr val="7B2D8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6345936" y="14904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Jointure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174736" y="1508760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7B2D8B"/>
                </a:solidFill>
              </a:rPr>
              <a:t>SQL / DuckDB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6345936" y="1801368"/>
            <a:ext cx="2542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E8F0"/>
                </a:solidFill>
              </a:rPr>
              <a:t>✓  714 produits consolidés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345936" y="2093976"/>
            <a:ext cx="2542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E8F0"/>
                </a:solidFill>
              </a:rPr>
              <a:t>✓  0 ligne orpheline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6345936" y="2386584"/>
            <a:ext cx="2542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E8F0"/>
                </a:solidFill>
              </a:rPr>
              <a:t>✓  Cohérence product_id ↔ id_web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345936" y="2679192"/>
            <a:ext cx="2542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E8F0"/>
                </a:solidFill>
              </a:rPr>
              <a:t>✓  Aucun NA sur clés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274320" y="3200400"/>
            <a:ext cx="2807208" cy="1627632"/>
          </a:xfrm>
          <a:prstGeom prst="rect">
            <a:avLst/>
          </a:prstGeom>
          <a:solidFill>
            <a:srgbClr val="16213E"/>
          </a:solidFill>
          <a:ln w="12700">
            <a:solidFill>
              <a:srgbClr val="C84B3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0" name="Shape 28"/>
          <p:cNvSpPr/>
          <p:nvPr/>
        </p:nvSpPr>
        <p:spPr>
          <a:xfrm>
            <a:off x="274320" y="3200400"/>
            <a:ext cx="91440" cy="1627632"/>
          </a:xfrm>
          <a:prstGeom prst="rect">
            <a:avLst/>
          </a:prstGeom>
          <a:solidFill>
            <a:srgbClr val="C84B31"/>
          </a:solidFill>
          <a:ln w="12700">
            <a:solidFill>
              <a:srgbClr val="C84B3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Text 29"/>
          <p:cNvSpPr/>
          <p:nvPr/>
        </p:nvSpPr>
        <p:spPr>
          <a:xfrm>
            <a:off x="457200" y="327355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Calcul CA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2286000" y="3291840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C84B31"/>
                </a:solidFill>
              </a:rPr>
              <a:t>SQL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457200" y="3584448"/>
            <a:ext cx="2542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E8F0"/>
                </a:solidFill>
              </a:rPr>
              <a:t>✓  CA total = 70 568,60 €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57200" y="3877056"/>
            <a:ext cx="2542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E8F0"/>
                </a:solidFill>
              </a:rPr>
              <a:t>✓  0 CA négatif ou nul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457200" y="4169664"/>
            <a:ext cx="2542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E8F0"/>
                </a:solidFill>
              </a:rPr>
              <a:t>✓  CA/produit × qté = CA total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457200" y="4462272"/>
            <a:ext cx="2542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E8F0"/>
                </a:solidFill>
              </a:rPr>
              <a:t>✓  Plage dates cohérente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3218688" y="3200400"/>
            <a:ext cx="2807208" cy="1627632"/>
          </a:xfrm>
          <a:prstGeom prst="rect">
            <a:avLst/>
          </a:prstGeom>
          <a:solidFill>
            <a:srgbClr val="16213E"/>
          </a:solidFill>
          <a:ln w="12700">
            <a:solidFill>
              <a:srgbClr val="2E8B5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8" name="Shape 36"/>
          <p:cNvSpPr/>
          <p:nvPr/>
        </p:nvSpPr>
        <p:spPr>
          <a:xfrm>
            <a:off x="3218688" y="3200400"/>
            <a:ext cx="91440" cy="1627632"/>
          </a:xfrm>
          <a:prstGeom prst="rect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9" name="Text 37"/>
          <p:cNvSpPr/>
          <p:nvPr/>
        </p:nvSpPr>
        <p:spPr>
          <a:xfrm>
            <a:off x="3401568" y="327355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Classification Z-score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230368" y="3291840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2E8B57"/>
                </a:solidFill>
              </a:rPr>
              <a:t>Python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3401568" y="3584448"/>
            <a:ext cx="2542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E8F0"/>
                </a:solidFill>
              </a:rPr>
              <a:t>✓  30 vins millésimés (z &gt; 1,96)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3401568" y="3877056"/>
            <a:ext cx="2542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E8F0"/>
                </a:solidFill>
              </a:rPr>
              <a:t>✓  684 vins ordinaires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3401568" y="4169664"/>
            <a:ext cx="2542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E8F0"/>
                </a:solidFill>
              </a:rPr>
              <a:t>✓  Somme = 714 (complétude)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3401568" y="4462272"/>
            <a:ext cx="2542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E8F0"/>
                </a:solidFill>
              </a:rPr>
              <a:t>✓  Seuil = 87,00 € (moy + 1,96×σ)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163056" y="3200400"/>
            <a:ext cx="2807208" cy="1627632"/>
          </a:xfrm>
          <a:prstGeom prst="rect">
            <a:avLst/>
          </a:prstGeom>
          <a:solidFill>
            <a:srgbClr val="16213E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6" name="Shape 44"/>
          <p:cNvSpPr/>
          <p:nvPr/>
        </p:nvSpPr>
        <p:spPr>
          <a:xfrm>
            <a:off x="6163056" y="3200400"/>
            <a:ext cx="91440" cy="16276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7" name="Text 45"/>
          <p:cNvSpPr/>
          <p:nvPr/>
        </p:nvSpPr>
        <p:spPr>
          <a:xfrm>
            <a:off x="6345936" y="327355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Rapport Excel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8174736" y="3291840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0D9488"/>
                </a:solidFill>
              </a:rPr>
              <a:t>openpyxl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6345936" y="3584448"/>
            <a:ext cx="2542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E8F0"/>
                </a:solidFill>
              </a:rPr>
              <a:t>✓  4 onglets présents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6345936" y="3877056"/>
            <a:ext cx="2542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E8F0"/>
                </a:solidFill>
              </a:rPr>
              <a:t>✓  CA_par_produit : 714 lignes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6345936" y="4169664"/>
            <a:ext cx="2542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E8F0"/>
                </a:solidFill>
              </a:rPr>
              <a:t>✓  CA_total : 70 568,60 €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6345936" y="4462272"/>
            <a:ext cx="2542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E8F0"/>
                </a:solidFill>
              </a:rPr>
              <a:t>✓  Fichier non corrompu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07  |  Tolérance aux pannes &amp; planification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411480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7B2D8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B2D8B"/>
                </a:solidFill>
              </a:rPr>
              <a:t>⏰  Planification automatique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508760"/>
            <a:ext cx="3703320" cy="64008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457200" y="1536192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A0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cron: "0 9 15 * *"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E8A0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timezone: Europe/Paris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40280"/>
            <a:ext cx="37033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</a:rPr>
              <a:t>✔  Le 15 de chaque mois à 9h00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</a:rPr>
              <a:t>✔  Aucune intervention manuelle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</a:rPr>
              <a:t>✔  Livraison automatique aux équipes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</a:rPr>
              <a:t>✔  Mode replace : idempotent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</a:rPr>
              <a:t>✔  Relançable manuellement à tout moment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1005840"/>
            <a:ext cx="411480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4B3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4937760" y="10972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84B31"/>
                </a:solidFill>
              </a:rPr>
              <a:t>🛡️  Tolérance aux pannes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892040" y="1536192"/>
            <a:ext cx="3840480" cy="658368"/>
          </a:xfrm>
          <a:prstGeom prst="rect">
            <a:avLst/>
          </a:prstGeom>
          <a:solidFill>
            <a:srgbClr val="FFF4F4"/>
          </a:solidFill>
          <a:ln w="12700">
            <a:solidFill>
              <a:srgbClr val="C84B3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5029200" y="1591056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84B31"/>
                </a:solidFill>
              </a:rPr>
              <a:t>⚠  DuckDB indisponible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029200" y="186537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44466"/>
                </a:solidFill>
              </a:rPr>
              <a:t>→  Retry ×3 (1s → 5s → 15s) puis fallback CSV dans _fallback/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892040" y="2313432"/>
            <a:ext cx="3840480" cy="658368"/>
          </a:xfrm>
          <a:prstGeom prst="rect">
            <a:avLst/>
          </a:prstGeom>
          <a:solidFill>
            <a:srgbClr val="FFF4F4"/>
          </a:solidFill>
          <a:ln w="12700">
            <a:solidFill>
              <a:srgbClr val="C84B3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5029200" y="2368296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84B31"/>
                </a:solidFill>
              </a:rPr>
              <a:t>⚠  Erreur écriture Excel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029200" y="264261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44466"/>
                </a:solidFill>
              </a:rPr>
              <a:t>→  Retry Kestra ×3 avec backoff exponentiel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892040" y="3090672"/>
            <a:ext cx="3840480" cy="658368"/>
          </a:xfrm>
          <a:prstGeom prst="rect">
            <a:avLst/>
          </a:prstGeom>
          <a:solidFill>
            <a:srgbClr val="FFF4F4"/>
          </a:solidFill>
          <a:ln w="12700">
            <a:solidFill>
              <a:srgbClr val="C84B3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5029200" y="3145536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84B31"/>
                </a:solidFill>
              </a:rPr>
              <a:t>⚠  Test métier échoué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029200" y="341985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44466"/>
                </a:solidFill>
              </a:rPr>
              <a:t>→  Pipeline stoppé, run précédent conservé intact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892040" y="3867912"/>
            <a:ext cx="3840480" cy="658368"/>
          </a:xfrm>
          <a:prstGeom prst="rect">
            <a:avLst/>
          </a:prstGeom>
          <a:solidFill>
            <a:srgbClr val="FFF4F4"/>
          </a:solidFill>
          <a:ln w="12700">
            <a:solidFill>
              <a:srgbClr val="C84B3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5029200" y="3922776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84B31"/>
                </a:solidFill>
              </a:rPr>
              <a:t>⚠  Fichier source corrompu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029200" y="419709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44466"/>
                </a:solidFill>
              </a:rPr>
              <a:t>→  Déplacement auto dans data/rejected/ + alerte log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Structure du projet — Organisation des fichiers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923544"/>
            <a:ext cx="5303520" cy="4219956"/>
          </a:xfrm>
          <a:prstGeom prst="rect">
            <a:avLst/>
          </a:prstGeom>
          <a:solidFill>
            <a:srgbClr val="0D1117"/>
          </a:solidFill>
          <a:ln w="12700">
            <a:solidFill>
              <a:srgbClr val="7B2D8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411480" y="1097280"/>
            <a:ext cx="50749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880" dirty="0">
              <a:solidFill>
                <a:srgbClr val="79C0FF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endParaRPr lang="en-US" sz="880" dirty="0">
              <a:solidFill>
                <a:srgbClr val="79C0FF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8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kestra/flows/
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A0A0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00_main_pipeline.yml
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A0A0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01_extraction.yml
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A0A0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02_transformation.yml
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A0A0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03_tests.yml
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scripts/python/
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A0A0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extract_files.py
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A0A0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clean_data.py
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A0A0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join_data.py
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A0A0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identify_wines.py
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A0A0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calculate_revenue.py
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A0A0B8"/>
                </a:solidFill>
                <a:latin typeface="Consolas" pitchFamily="34" charset="0"/>
              </a:rPr>
              <a:t>│   └── load_to_duckdb.py </a:t>
            </a:r>
            <a:r>
              <a:rPr lang="en-US" sz="880" dirty="0">
                <a:solidFill>
                  <a:srgbClr val="E8A0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scripts/sql/
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A0A0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tests/ (4 fichiers SQL)
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2E8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tests/
│   ├── test_pipeline.py             ← 32 structurels
│   └── test_chiffres_bottleneck.py ← 11 cibles POC
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A0A0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docker-compose.yml</a:t>
            </a:r>
            <a:endParaRPr lang="en-US" sz="880" dirty="0"/>
          </a:p>
        </p:txBody>
      </p:sp>
      <p:sp>
        <p:nvSpPr>
          <p:cNvPr id="6" name="Shape 4"/>
          <p:cNvSpPr/>
          <p:nvPr/>
        </p:nvSpPr>
        <p:spPr>
          <a:xfrm>
            <a:off x="5852160" y="1018032"/>
            <a:ext cx="3017520" cy="1984248"/>
          </a:xfrm>
          <a:prstGeom prst="rect">
            <a:avLst/>
          </a:prstGeom>
          <a:solidFill>
            <a:srgbClr val="16213E"/>
          </a:solidFill>
          <a:ln w="12700">
            <a:solidFill>
              <a:srgbClr val="2563E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5989320" y="105156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563EB"/>
                </a:solidFill>
              </a:rPr>
              <a:t>🚀  Démarrage rapide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89320" y="1478280"/>
            <a:ext cx="2743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0A0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Dépendances
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-r requirements.txt
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A0A0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Kestra (Docker)
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up -d
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A0A0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Ouvrir
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8A0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http://localhost:8080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852160" y="3017520"/>
            <a:ext cx="3017520" cy="1961388"/>
          </a:xfrm>
          <a:prstGeom prst="rect">
            <a:avLst/>
          </a:prstGeom>
          <a:solidFill>
            <a:srgbClr val="16213E"/>
          </a:solidFill>
          <a:ln w="12700">
            <a:solidFill>
              <a:srgbClr val="2E8B5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5989320" y="30175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8B57"/>
                </a:solidFill>
              </a:rPr>
              <a:t>🧪  Lancer les tests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89320" y="3439668"/>
            <a:ext cx="2743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0A0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Tous les tests
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pytest tests/ -v
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A0A0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Chiffres cibles
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pytest tests/ -m cibles
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A0A0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Intégrité DuckDB
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pytest tests/ -m integration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🎬  Démonstration live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98755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A0A0B8"/>
                </a:solidFill>
              </a:rPr>
              <a:t>Étapes de la démo — à suivre dans l'ordre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274320" y="1389888"/>
            <a:ext cx="4206240" cy="1078992"/>
          </a:xfrm>
          <a:prstGeom prst="rect">
            <a:avLst/>
          </a:prstGeom>
          <a:solidFill>
            <a:srgbClr val="16213E"/>
          </a:solidFill>
          <a:ln w="12700">
            <a:solidFill>
              <a:srgbClr val="2563E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274320" y="1389888"/>
            <a:ext cx="384048" cy="107899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27432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49808" y="1463040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Lancer le pipeline local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49808" y="1773936"/>
            <a:ext cx="3639312" cy="256032"/>
          </a:xfrm>
          <a:prstGeom prst="rect">
            <a:avLst/>
          </a:prstGeom>
          <a:solidFill>
            <a:srgbClr val="0D1117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795528" y="1792224"/>
            <a:ext cx="35478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scripts.python.run_pipeline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749808" y="2084832"/>
            <a:ext cx="3639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0A0B8"/>
                </a:solidFill>
              </a:rPr>
              <a:t>Montrer les logs : 6 étapes, tests verts, durée ~2s, livrables générés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754880" y="1389888"/>
            <a:ext cx="4206240" cy="1078992"/>
          </a:xfrm>
          <a:prstGeom prst="rect">
            <a:avLst/>
          </a:prstGeom>
          <a:solidFill>
            <a:srgbClr val="16213E"/>
          </a:solidFill>
          <a:ln w="12700">
            <a:solidFill>
              <a:srgbClr val="2E8B5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4754880" y="1389888"/>
            <a:ext cx="384048" cy="1078992"/>
          </a:xfrm>
          <a:prstGeom prst="rect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475488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230368" y="1463040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Lancer les 39 tests pytest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230368" y="1773936"/>
            <a:ext cx="3639312" cy="256032"/>
          </a:xfrm>
          <a:prstGeom prst="rect">
            <a:avLst/>
          </a:prstGeom>
          <a:solidFill>
            <a:srgbClr val="0D1117"/>
          </a:solidFill>
          <a:ln w="12700">
            <a:solidFill>
              <a:srgbClr val="2E8B5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5276088" y="1792224"/>
            <a:ext cx="35478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E8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pytest tests/ -v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230368" y="2084832"/>
            <a:ext cx="3639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0A0B8"/>
                </a:solidFill>
              </a:rPr>
              <a:t>Montrer les 39 tests PASSED — dont les 11 tests cibles qui valident les chiffres de Stéphane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74320" y="2596896"/>
            <a:ext cx="4206240" cy="1078992"/>
          </a:xfrm>
          <a:prstGeom prst="rect">
            <a:avLst/>
          </a:prstGeom>
          <a:solidFill>
            <a:srgbClr val="16213E"/>
          </a:solidFill>
          <a:ln w="12700">
            <a:solidFill>
              <a:srgbClr val="7B2D8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" name="Shape 18"/>
          <p:cNvSpPr/>
          <p:nvPr/>
        </p:nvSpPr>
        <p:spPr>
          <a:xfrm>
            <a:off x="274320" y="2596896"/>
            <a:ext cx="384048" cy="1078992"/>
          </a:xfrm>
          <a:prstGeom prst="rect">
            <a:avLst/>
          </a:prstGeom>
          <a:solidFill>
            <a:srgbClr val="7B2D8B"/>
          </a:solidFill>
          <a:ln w="12700">
            <a:solidFill>
              <a:srgbClr val="7B2D8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274320" y="2944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49808" y="2670048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Ouvrir l'interface Kestra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49808" y="2980944"/>
            <a:ext cx="3639312" cy="256032"/>
          </a:xfrm>
          <a:prstGeom prst="rect">
            <a:avLst/>
          </a:prstGeom>
          <a:solidFill>
            <a:srgbClr val="0D1117"/>
          </a:solidFill>
          <a:ln w="12700">
            <a:solidFill>
              <a:srgbClr val="7B2D8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795528" y="2999232"/>
            <a:ext cx="35478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B2D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http://localhost:8080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749808" y="3291840"/>
            <a:ext cx="3639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0A0B8"/>
                </a:solidFill>
              </a:rPr>
              <a:t>Montrer le flow main_pipeline, la topologie visuelle, déclencher une exécution manuelle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4754880" y="2596896"/>
            <a:ext cx="4206240" cy="1078992"/>
          </a:xfrm>
          <a:prstGeom prst="rect">
            <a:avLst/>
          </a:prstGeom>
          <a:solidFill>
            <a:srgbClr val="16213E"/>
          </a:solidFill>
          <a:ln w="1270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7" name="Shape 25"/>
          <p:cNvSpPr/>
          <p:nvPr/>
        </p:nvSpPr>
        <p:spPr>
          <a:xfrm>
            <a:off x="4754880" y="2596896"/>
            <a:ext cx="384048" cy="107899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4754880" y="2944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5230368" y="2670048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Visualiser l'exécution Kestra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230368" y="2980944"/>
            <a:ext cx="3639312" cy="256032"/>
          </a:xfrm>
          <a:prstGeom prst="rect">
            <a:avLst/>
          </a:prstGeom>
          <a:solidFill>
            <a:srgbClr val="0D1117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Text 29"/>
          <p:cNvSpPr/>
          <p:nvPr/>
        </p:nvSpPr>
        <p:spPr>
          <a:xfrm>
            <a:off x="5276088" y="2999232"/>
            <a:ext cx="35478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Onglet Executions → cliquer sur le run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5230368" y="3291840"/>
            <a:ext cx="3639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0A0B8"/>
                </a:solidFill>
              </a:rPr>
              <a:t>Montrer les tâches vertes, les logs par tâche, la durée, le statut SUCCESS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274320" y="3803904"/>
            <a:ext cx="4206240" cy="1078992"/>
          </a:xfrm>
          <a:prstGeom prst="rect">
            <a:avLst/>
          </a:prstGeom>
          <a:solidFill>
            <a:srgbClr val="16213E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4" name="Shape 32"/>
          <p:cNvSpPr/>
          <p:nvPr/>
        </p:nvSpPr>
        <p:spPr>
          <a:xfrm>
            <a:off x="274320" y="3803904"/>
            <a:ext cx="384048" cy="10789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Text 33"/>
          <p:cNvSpPr/>
          <p:nvPr/>
        </p:nvSpPr>
        <p:spPr>
          <a:xfrm>
            <a:off x="274320" y="41513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749808" y="387705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Ouvrir le rapport Excel généré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49808" y="4187952"/>
            <a:ext cx="3639312" cy="256032"/>
          </a:xfrm>
          <a:prstGeom prst="rect">
            <a:avLst/>
          </a:prstGeom>
          <a:solidFill>
            <a:srgbClr val="0D1117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Text 36"/>
          <p:cNvSpPr/>
          <p:nvPr/>
        </p:nvSpPr>
        <p:spPr>
          <a:xfrm>
            <a:off x="795528" y="4206240"/>
            <a:ext cx="35478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data/processed/rapport_BottleNeck_YYYY-MM.xlsx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749808" y="4498848"/>
            <a:ext cx="3639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0A0B8"/>
                </a:solidFill>
              </a:rPr>
              <a:t>Montrer les 4 onglets : CA_par_produit (714 lignes), CA_total (70 568,60 €), Vins_premium (30), Vins_ordinaires (684)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4754880" y="3803904"/>
            <a:ext cx="4206240" cy="1078992"/>
          </a:xfrm>
          <a:prstGeom prst="rect">
            <a:avLst/>
          </a:prstGeom>
          <a:solidFill>
            <a:srgbClr val="16213E"/>
          </a:solidFill>
          <a:ln w="12700">
            <a:solidFill>
              <a:srgbClr val="C84B3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1" name="Shape 39"/>
          <p:cNvSpPr/>
          <p:nvPr/>
        </p:nvSpPr>
        <p:spPr>
          <a:xfrm>
            <a:off x="4754880" y="3803904"/>
            <a:ext cx="384048" cy="1078992"/>
          </a:xfrm>
          <a:prstGeom prst="rect">
            <a:avLst/>
          </a:prstGeom>
          <a:solidFill>
            <a:srgbClr val="C84B31"/>
          </a:solidFill>
          <a:ln w="12700">
            <a:solidFill>
              <a:srgbClr val="C84B3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2" name="Text 40"/>
          <p:cNvSpPr/>
          <p:nvPr/>
        </p:nvSpPr>
        <p:spPr>
          <a:xfrm>
            <a:off x="4754880" y="41513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6</a:t>
            </a:r>
            <a:endParaRPr lang="en-US" sz="1800" dirty="0"/>
          </a:p>
        </p:txBody>
      </p:sp>
      <p:sp>
        <p:nvSpPr>
          <p:cNvPr id="43" name="Text 41"/>
          <p:cNvSpPr/>
          <p:nvPr/>
        </p:nvSpPr>
        <p:spPr>
          <a:xfrm>
            <a:off x="5230368" y="387705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Tester la résilience (optionnel)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230368" y="4187952"/>
            <a:ext cx="3639312" cy="256032"/>
          </a:xfrm>
          <a:prstGeom prst="rect">
            <a:avLst/>
          </a:prstGeom>
          <a:solidFill>
            <a:srgbClr val="0D1117"/>
          </a:solidFill>
          <a:ln w="12700">
            <a:solidFill>
              <a:srgbClr val="C84B3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5" name="Text 43"/>
          <p:cNvSpPr/>
          <p:nvPr/>
        </p:nvSpPr>
        <p:spPr>
          <a:xfrm>
            <a:off x="5276088" y="4206240"/>
            <a:ext cx="35478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84B3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pytest tests/ -m integration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5230368" y="4498848"/>
            <a:ext cx="3639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0A0B8"/>
                </a:solidFill>
              </a:rPr>
              <a:t>Montrer les tests d'intégration qui interrogent DuckDB après le pipeline et valident la persistance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08  |  Résultats validés &amp; livrables produits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0040" y="1051560"/>
            <a:ext cx="26517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320040" y="1051560"/>
            <a:ext cx="2651760" cy="914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320040" y="1207008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563EB"/>
                </a:solidFill>
              </a:rPr>
              <a:t>825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320040" y="170992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55577"/>
                </a:solidFill>
              </a:rPr>
              <a:t>lignes ERP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555577"/>
                </a:solidFill>
              </a:rPr>
              <a:t>brutes ingérées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172968" y="1051560"/>
            <a:ext cx="26517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3172968" y="1051560"/>
            <a:ext cx="2651760" cy="914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3172968" y="1207008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7C3AED"/>
                </a:solidFill>
              </a:rPr>
              <a:t>1 513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172968" y="170992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55577"/>
                </a:solidFill>
              </a:rPr>
              <a:t>lignes Web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555577"/>
                </a:solidFill>
              </a:rPr>
              <a:t>brutes ingérées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25896" y="1051560"/>
            <a:ext cx="26517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7B2D8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6025896" y="1051560"/>
            <a:ext cx="2651760" cy="91440"/>
          </a:xfrm>
          <a:prstGeom prst="rect">
            <a:avLst/>
          </a:prstGeom>
          <a:solidFill>
            <a:srgbClr val="7B2D8B"/>
          </a:solidFill>
          <a:ln w="12700">
            <a:solidFill>
              <a:srgbClr val="7B2D8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6025896" y="1207008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7B2D8B"/>
                </a:solidFill>
              </a:rPr>
              <a:t>714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025896" y="170992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55577"/>
                </a:solidFill>
              </a:rPr>
              <a:t>produits consolidés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555577"/>
                </a:solidFill>
              </a:rPr>
              <a:t>après nettoyage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0040" y="2286000"/>
            <a:ext cx="26517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4B3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7" name="Shape 15"/>
          <p:cNvSpPr/>
          <p:nvPr/>
        </p:nvSpPr>
        <p:spPr>
          <a:xfrm>
            <a:off x="320040" y="2286000"/>
            <a:ext cx="2651760" cy="91440"/>
          </a:xfrm>
          <a:prstGeom prst="rect">
            <a:avLst/>
          </a:prstGeom>
          <a:solidFill>
            <a:srgbClr val="C84B31"/>
          </a:solidFill>
          <a:ln w="12700">
            <a:solidFill>
              <a:srgbClr val="C84B3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320040" y="2441448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C84B31"/>
                </a:solidFill>
              </a:rPr>
              <a:t>70 568,60 €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320040" y="294436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55577"/>
                </a:solidFill>
              </a:rPr>
              <a:t>CA total calculé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555577"/>
                </a:solidFill>
              </a:rPr>
              <a:t>automatiquement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172968" y="2286000"/>
            <a:ext cx="26517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A02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1" name="Shape 19"/>
          <p:cNvSpPr/>
          <p:nvPr/>
        </p:nvSpPr>
        <p:spPr>
          <a:xfrm>
            <a:off x="3172968" y="2286000"/>
            <a:ext cx="2651760" cy="91440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3172968" y="2441448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E8A020"/>
                </a:solidFill>
              </a:rPr>
              <a:t>30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3172968" y="294436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55577"/>
                </a:solidFill>
              </a:rPr>
              <a:t>vins millésimés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555577"/>
                </a:solidFill>
              </a:rPr>
              <a:t>(z-score &gt; 1,96)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025896" y="2286000"/>
            <a:ext cx="26517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5" name="Shape 23"/>
          <p:cNvSpPr/>
          <p:nvPr/>
        </p:nvSpPr>
        <p:spPr>
          <a:xfrm>
            <a:off x="6025896" y="2286000"/>
            <a:ext cx="2651760" cy="914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6025896" y="2441448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9488"/>
                </a:solidFill>
              </a:rPr>
              <a:t>39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6025896" y="294436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55577"/>
                </a:solidFill>
              </a:rPr>
              <a:t>tests pytest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555577"/>
                </a:solidFill>
              </a:rPr>
              <a:t>validés (39/39 ✅)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65760" y="35661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</a:rPr>
              <a:t>📦  Livrables produits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274320" y="3959352"/>
            <a:ext cx="2807208" cy="914400"/>
          </a:xfrm>
          <a:prstGeom prst="rect">
            <a:avLst/>
          </a:prstGeom>
          <a:solidFill>
            <a:srgbClr val="16213E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0" name="Text 28"/>
          <p:cNvSpPr/>
          <p:nvPr/>
        </p:nvSpPr>
        <p:spPr>
          <a:xfrm>
            <a:off x="384048" y="4023360"/>
            <a:ext cx="2578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</a:rPr>
              <a:t>📊  rapport_BottleNeck_YYYY-MM.xlsx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384048" y="4325112"/>
            <a:ext cx="2578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0A0B8"/>
                </a:solidFill>
              </a:rPr>
              <a:t>4 onglets : CA_par_produit · CA_total · Vins_premium · Vins_ordinaires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3218688" y="3959352"/>
            <a:ext cx="2807208" cy="914400"/>
          </a:xfrm>
          <a:prstGeom prst="rect">
            <a:avLst/>
          </a:prstGeom>
          <a:solidFill>
            <a:srgbClr val="16213E"/>
          </a:solidFill>
          <a:ln w="12700">
            <a:solidFill>
              <a:srgbClr val="2563E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3" name="Text 31"/>
          <p:cNvSpPr/>
          <p:nvPr/>
        </p:nvSpPr>
        <p:spPr>
          <a:xfrm>
            <a:off x="3328416" y="4023360"/>
            <a:ext cx="2578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</a:rPr>
              <a:t>🗄️  bottlerock.db (DuckDB)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3328416" y="4325112"/>
            <a:ext cx="2578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0A0B8"/>
                </a:solidFill>
              </a:rPr>
              <a:t>4 tables : erp_clean · web_clean · liaison_clean · produits_consolides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6163056" y="3959352"/>
            <a:ext cx="2807208" cy="914400"/>
          </a:xfrm>
          <a:prstGeom prst="rect">
            <a:avLst/>
          </a:prstGeom>
          <a:solidFill>
            <a:srgbClr val="16213E"/>
          </a:solidFill>
          <a:ln w="12700">
            <a:solidFill>
              <a:srgbClr val="2E8B5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6" name="Text 34"/>
          <p:cNvSpPr/>
          <p:nvPr/>
        </p:nvSpPr>
        <p:spPr>
          <a:xfrm>
            <a:off x="6272784" y="4023360"/>
            <a:ext cx="2578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</a:rPr>
              <a:t>🧪  39 tests pytest validés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272784" y="4325112"/>
            <a:ext cx="2578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0A0B8"/>
                </a:solidFill>
              </a:rPr>
              <a:t>23 unitaires + 5 intégration + 11 cibles — exécutables en continu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Difficultés rencontrées &amp; apprentissages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20980" y="2026920"/>
            <a:ext cx="420624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4B3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220980" y="2026920"/>
            <a:ext cx="109728" cy="1719072"/>
          </a:xfrm>
          <a:prstGeom prst="rect">
            <a:avLst/>
          </a:prstGeom>
          <a:solidFill>
            <a:srgbClr val="C84B31"/>
          </a:solidFill>
          <a:ln w="12700">
            <a:solidFill>
              <a:srgbClr val="C84B3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422148" y="2118360"/>
            <a:ext cx="3895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</a:rPr>
              <a:t>⚠️  Logique métier du nettoyage WEB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22148" y="2484120"/>
            <a:ext cx="389534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44466"/>
                </a:solidFill>
              </a:rPr>
              <a:t>1ère version : post_type='product' AND post_status='publish' en une étape → 716 lignes (pas 714). Stéphane décompose en 2 étapes : dropna(sku) → 1 428 lignes, puis dédup SKU avec priorité 'product' sur 'attachment' → 714 lignes. Comprendre cette décomposition était essentiel pour les tests intermédiaires.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701540" y="2026920"/>
            <a:ext cx="420624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7" name="Shape 15"/>
          <p:cNvSpPr/>
          <p:nvPr/>
        </p:nvSpPr>
        <p:spPr>
          <a:xfrm>
            <a:off x="4701540" y="2026920"/>
            <a:ext cx="109728" cy="17190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4902708" y="2118360"/>
            <a:ext cx="3895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</a:rPr>
              <a:t>🔤  Encodage des fichiers Excel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902708" y="2484120"/>
            <a:ext cx="389534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44466"/>
                </a:solidFill>
              </a:rPr>
              <a:t>Caractères accentués (Château, Pomerol…) mal affichés en console Windows (cp1252) mais bytes UTF-8 corrects. Solution pour les CSV de sortie : encoding='utf-8-sig' (UTF-8 avec BOM) pour qu'Excel les ouvre directement sans passer par l'assistant d'import.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 err="1">
                <a:solidFill>
                  <a:srgbClr val="FFFFFF"/>
                </a:solidFill>
              </a:rPr>
              <a:t>Pistes</a:t>
            </a:r>
            <a:r>
              <a:rPr lang="en-US" sz="2000" b="1" dirty="0">
                <a:solidFill>
                  <a:srgbClr val="FFFFFF"/>
                </a:solidFill>
              </a:rPr>
              <a:t> </a:t>
            </a:r>
            <a:r>
              <a:rPr lang="en-US" sz="2000" b="1" dirty="0" err="1">
                <a:solidFill>
                  <a:srgbClr val="FFFFFF"/>
                </a:solidFill>
              </a:rPr>
              <a:t>d'amélioration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1024128"/>
            <a:ext cx="2807208" cy="1755648"/>
          </a:xfrm>
          <a:prstGeom prst="rect">
            <a:avLst/>
          </a:prstGeom>
          <a:solidFill>
            <a:srgbClr val="16213E"/>
          </a:solidFill>
          <a:ln w="12700">
            <a:solidFill>
              <a:srgbClr val="2E8B5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1691640" y="1106424"/>
            <a:ext cx="1280160" cy="246888"/>
          </a:xfrm>
          <a:prstGeom prst="rect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1709928" y="1115568"/>
            <a:ext cx="124358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A1A2E"/>
                </a:solidFill>
              </a:rPr>
              <a:t>Court terme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384048" y="11155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🔔  Notifications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84048" y="1463040"/>
            <a:ext cx="260604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0A0B8"/>
                </a:solidFill>
              </a:rPr>
              <a:t>Tâche Kestra Slack / email en fin de flow pour avertir Stéphane et Laurent dès que le rapport est prêt ou qu'une erreur est détectée.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18688" y="1024128"/>
            <a:ext cx="2807208" cy="1755648"/>
          </a:xfrm>
          <a:prstGeom prst="rect">
            <a:avLst/>
          </a:prstGeom>
          <a:solidFill>
            <a:srgbClr val="16213E"/>
          </a:solidFill>
          <a:ln w="12700">
            <a:solidFill>
              <a:srgbClr val="2E8B5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4636008" y="1106424"/>
            <a:ext cx="1280160" cy="246888"/>
          </a:xfrm>
          <a:prstGeom prst="rect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4654296" y="1115568"/>
            <a:ext cx="124358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A1A2E"/>
                </a:solidFill>
              </a:rPr>
              <a:t>Court terme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328416" y="11155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🗃️  Versioning des sources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328416" y="1463040"/>
            <a:ext cx="260604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0A0B8"/>
                </a:solidFill>
              </a:rPr>
              <a:t>Snapshot des fichiers Excel dans data/raw/_archive/YYYY-MM/ à chaque run. Permet l'audit et de rejouer n'importe quel mois sans perte de données.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163056" y="1024128"/>
            <a:ext cx="2807208" cy="1755648"/>
          </a:xfrm>
          <a:prstGeom prst="rect">
            <a:avLst/>
          </a:prstGeom>
          <a:solidFill>
            <a:srgbClr val="16213E"/>
          </a:solidFill>
          <a:ln w="12700">
            <a:solidFill>
              <a:srgbClr val="E8A02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Shape 13"/>
          <p:cNvSpPr/>
          <p:nvPr/>
        </p:nvSpPr>
        <p:spPr>
          <a:xfrm>
            <a:off x="7580376" y="1106424"/>
            <a:ext cx="1280160" cy="246888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7598664" y="1115568"/>
            <a:ext cx="124358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A1A2E"/>
                </a:solidFill>
              </a:rPr>
              <a:t>Moyen terme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272784" y="11155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📉  Surveillance du drift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272784" y="1463040"/>
            <a:ext cx="260604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0A0B8"/>
                </a:solidFill>
              </a:rPr>
              <a:t>Si moy/σ des prix évoluent, le seuil 87 € dérive. Ajouter un test d'alerte si le seuil calculé s'écarte de ±15 % de la valeur initiale.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962656"/>
            <a:ext cx="2807208" cy="1755648"/>
          </a:xfrm>
          <a:prstGeom prst="rect">
            <a:avLst/>
          </a:prstGeom>
          <a:solidFill>
            <a:srgbClr val="16213E"/>
          </a:solidFill>
          <a:ln w="12700">
            <a:solidFill>
              <a:srgbClr val="E8A02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" name="Shape 18"/>
          <p:cNvSpPr/>
          <p:nvPr/>
        </p:nvSpPr>
        <p:spPr>
          <a:xfrm>
            <a:off x="1691640" y="3044952"/>
            <a:ext cx="1280160" cy="246888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1709928" y="3054096"/>
            <a:ext cx="124358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A1A2E"/>
                </a:solidFill>
              </a:rPr>
              <a:t>Moyen terme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384048" y="305409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📊  Tableau de bord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84048" y="3401568"/>
            <a:ext cx="260604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0A0B8"/>
                </a:solidFill>
              </a:rPr>
              <a:t>Connecter Metabase ou Apache Superset à DuckDB pour une vue exploratoire interactive à Stéphane et Laurent — sans nécessiter Python.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218688" y="2962656"/>
            <a:ext cx="2807208" cy="1755648"/>
          </a:xfrm>
          <a:prstGeom prst="rect">
            <a:avLst/>
          </a:prstGeom>
          <a:solidFill>
            <a:srgbClr val="16213E"/>
          </a:solidFill>
          <a:ln w="12700">
            <a:solidFill>
              <a:srgbClr val="C84B3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5" name="Shape 23"/>
          <p:cNvSpPr/>
          <p:nvPr/>
        </p:nvSpPr>
        <p:spPr>
          <a:xfrm>
            <a:off x="4636008" y="3044952"/>
            <a:ext cx="1280160" cy="246888"/>
          </a:xfrm>
          <a:prstGeom prst="rect">
            <a:avLst/>
          </a:prstGeom>
          <a:solidFill>
            <a:srgbClr val="C84B31"/>
          </a:solidFill>
          <a:ln w="12700">
            <a:solidFill>
              <a:srgbClr val="C84B3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4654296" y="3054096"/>
            <a:ext cx="124358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A1A2E"/>
                </a:solidFill>
              </a:rPr>
              <a:t>Long terme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3328416" y="305409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⚙️  CI/CD GitHub Actions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328416" y="3401568"/>
            <a:ext cx="260604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0A0B8"/>
                </a:solidFill>
              </a:rPr>
              <a:t>Exécuter automatiquement les 39 tests pytest à chaque push sur le repo pour éviter les régressions lors de modifications des scripts Python / SQL.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163056" y="2962656"/>
            <a:ext cx="2807208" cy="1755648"/>
          </a:xfrm>
          <a:prstGeom prst="rect">
            <a:avLst/>
          </a:prstGeom>
          <a:solidFill>
            <a:srgbClr val="16213E"/>
          </a:solidFill>
          <a:ln w="12700">
            <a:solidFill>
              <a:srgbClr val="C84B3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0" name="Shape 28"/>
          <p:cNvSpPr/>
          <p:nvPr/>
        </p:nvSpPr>
        <p:spPr>
          <a:xfrm>
            <a:off x="7580376" y="3044952"/>
            <a:ext cx="1280160" cy="246888"/>
          </a:xfrm>
          <a:prstGeom prst="rect">
            <a:avLst/>
          </a:prstGeom>
          <a:solidFill>
            <a:srgbClr val="C84B31"/>
          </a:solidFill>
          <a:ln w="12700">
            <a:solidFill>
              <a:srgbClr val="C84B3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Text 29"/>
          <p:cNvSpPr/>
          <p:nvPr/>
        </p:nvSpPr>
        <p:spPr>
          <a:xfrm>
            <a:off x="7598664" y="3054096"/>
            <a:ext cx="124358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A1A2E"/>
                </a:solidFill>
              </a:rPr>
              <a:t>Long terme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6272784" y="305409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🔌  Connexion directe ERP/CMS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272784" y="3401568"/>
            <a:ext cx="260604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0A0B8"/>
                </a:solidFill>
              </a:rPr>
              <a:t>Remplacer les fichiers Excel par des connexions directes aux APIs ERP et WooCommerce via plugin Kestra HTTP. Supprimer l'export manuel de fichiers.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-1097280"/>
            <a:ext cx="5029200" cy="5029200"/>
          </a:xfrm>
          <a:prstGeom prst="ellipse">
            <a:avLst/>
          </a:prstGeom>
          <a:solidFill>
            <a:srgbClr val="7B2D8B">
              <a:alpha val="12000"/>
            </a:srgbClr>
          </a:solidFill>
          <a:ln w="12700">
            <a:solidFill>
              <a:srgbClr val="7B2D8B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583680" y="2743200"/>
            <a:ext cx="3657600" cy="3657600"/>
          </a:xfrm>
          <a:prstGeom prst="ellipse">
            <a:avLst/>
          </a:prstGeom>
          <a:solidFill>
            <a:srgbClr val="C84B31">
              <a:alpha val="12000"/>
            </a:srgbClr>
          </a:solidFill>
          <a:ln w="12700">
            <a:solidFill>
              <a:srgbClr val="C84B31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0A0B8"/>
                </a:solidFill>
              </a:rPr>
              <a:t>Ce que nous avons livré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768096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</a:rPr>
              <a:t>Un pipeline robuste,</a:t>
            </a:r>
            <a:endParaRPr lang="en-US" sz="3200" dirty="0"/>
          </a:p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</a:rPr>
              <a:t>automatisé, testé et documenté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2194560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8F0"/>
                </a:solidFill>
              </a:rPr>
              <a:t>✅  Pipeline complet : extraction → nettoyage → jointure → analyse → rapport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06624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8F0"/>
                </a:solidFill>
              </a:rPr>
              <a:t>🧪  39 tests pytest garantissant la qualité à chaque étape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3218688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8F0"/>
                </a:solidFill>
              </a:rPr>
              <a:t>⏰  Exécution automatique le 15/mois à 9h, sans intervention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8F0"/>
                </a:solidFill>
              </a:rPr>
              <a:t>🛡️  Résilience intégrée : retry, fallback CSV, idempotence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46320" y="37490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8F0"/>
                </a:solidFill>
              </a:rPr>
              <a:t>📊  Rapport Excel 4 onglets + 2 CSV livré en ~2 secondes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828800" y="4462272"/>
            <a:ext cx="5486400" cy="457200"/>
          </a:xfrm>
          <a:prstGeom prst="rect">
            <a:avLst/>
          </a:prstGeom>
          <a:solidFill>
            <a:srgbClr val="7B2D8B"/>
          </a:solidFill>
          <a:ln w="12700">
            <a:solidFill>
              <a:srgbClr val="7B2D8B"/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12" name="Text 10"/>
          <p:cNvSpPr/>
          <p:nvPr/>
        </p:nvSpPr>
        <p:spPr>
          <a:xfrm>
            <a:off x="1828800" y="44805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Merci pour votre attention  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2258</Words>
  <Application>Microsoft Office PowerPoint</Application>
  <PresentationFormat>Affichage à l'écran (16:9)</PresentationFormat>
  <Paragraphs>347</Paragraphs>
  <Slides>15</Slides>
  <Notes>15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Consolas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Automatisation Pipeline Data — BottleNeck</dc:title>
  <dc:subject>PptxGenJS Presentation</dc:subject>
  <dc:creator>PptxGenJS</dc:creator>
  <cp:lastModifiedBy>Magali COURTE  2702</cp:lastModifiedBy>
  <cp:revision>2</cp:revision>
  <dcterms:created xsi:type="dcterms:W3CDTF">2026-05-07T08:20:44Z</dcterms:created>
  <dcterms:modified xsi:type="dcterms:W3CDTF">2026-05-28T13:32:27Z</dcterms:modified>
</cp:coreProperties>
</file>